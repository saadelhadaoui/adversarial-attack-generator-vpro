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itle_1_logo_vert.png"/>
  <Relationship Id="rId3" Type="http://schemas.openxmlformats.org/officeDocument/2006/relationships/image" Target="../media/Title_2_WhatsApp_Image_2026_05_15_at.jpe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ummary_Context_1_Screenshot_2026_05_15_130530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ramework_1_Screenshot_2026_05_15_131115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gents_1_Screenshot_2026_05_15_131001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LM_Evaluation_1_Screenshot_2026_05_15_131250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raining_Results_1_Screenshot_2026_05_15_130638.png"/>
  <Relationship Id="rId3" Type="http://schemas.openxmlformats.org/officeDocument/2006/relationships/image" Target="../media/Training_Results_2_Screenshot_2026_05_15_131044.png"/>
  <Relationship Id="rId4" Type="http://schemas.openxmlformats.org/officeDocument/2006/relationships/image" Target="../media/Training_Results_3_Screenshot_2026_05_15_131059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</a:ln>
        </p:spPr>
        <p:txBody>
          <a:bodyPr/>
          <a:lstStyle/>
          <a:p/>
        </p:txBody>
      </p:sp>
      <p:sp>
        <p:nvSpPr>
          <p:cNvPr id="3" name="Grid V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4" name="Grid V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5" name="Grid V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6" name="Grid V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7" name="Grid V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8" name="Grid V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9" name="Grid V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0" name="Grid V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1" name="Grid V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2" name="Grid V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3" name="Grid V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4" name="Grid V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5" name="Grid V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6" name="Grid V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7" name="Grid V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8" name="Grid V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9" name="Grid V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0" name="Grid V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1" name="Grid V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2" name="Grid V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3" name="Grid V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4" name="Grid V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5" name="Grid V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6" name="Grid V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7" name="Grid V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8" name="Grid V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9" name="Grid V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0" name="Grid V"/>
          <p:cNvSpPr/>
          <p:nvPr/>
        </p:nvSpPr>
        <p:spPr>
          <a:xfrm>
            <a:off x="1234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1" name="Grid H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2" name="Grid H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3" name="Grid H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4" name="Grid H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5" name="Grid H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6" name="Grid H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7" name="Grid H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8" name="Grid H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9" name="Grid H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0" name="Grid H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1" name="Grid H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2" name="Grid H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3" name="Grid H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4" name="Grid H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5" name="Grid H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6" name="Grid H"/>
          <p:cNvSpPr/>
          <p:nvPr/>
        </p:nvSpPr>
        <p:spPr>
          <a:xfrm>
            <a:off x="0" y="6858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pic>
        <p:nvPicPr>
          <p:cNvPr id="47" name="EMSI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055507" y="475488"/>
            <a:ext cx="3466825" cy="1554480"/>
          </a:xfrm>
          <a:prstGeom prst="rect">
            <a:avLst/>
          </a:prstGeom>
          <a:ln w="12700">
            <a:solidFill>
              <a:srgbClr val="00E5FF">
                <a:alpha val="80000"/>
              </a:srgbClr>
            </a:solidFill>
          </a:ln>
        </p:spPr>
      </p:pic>
      <p:pic>
        <p:nvPicPr>
          <p:cNvPr id="48" name="EMSI Student Lab Logo"/>
          <p:cNvPicPr/>
          <p:nvPr/>
        </p:nvPicPr>
        <p:blipFill>
          <a:blip r:embed="rId3"/>
          <a:stretch>
            <a:fillRect/>
          </a:stretch>
        </p:blipFill>
        <p:spPr>
          <a:xfrm>
            <a:off x="9144000" y="475488"/>
            <a:ext cx="1572768" cy="1572768"/>
          </a:xfrm>
          <a:prstGeom prst="rect">
            <a:avLst/>
          </a:prstGeom>
          <a:ln w="12700">
            <a:solidFill>
              <a:srgbClr val="00E5FF">
                <a:alpha val="80000"/>
              </a:srgbClr>
            </a:solidFill>
          </a:ln>
        </p:spPr>
      </p:pic>
      <p:sp>
        <p:nvSpPr>
          <p:cNvPr id="49" name="Text"/>
          <p:cNvSpPr txBox="1"/>
          <p:nvPr/>
        </p:nvSpPr>
        <p:spPr>
          <a:xfrm>
            <a:off x="685800" y="2542032"/>
            <a:ext cx="75895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4000" b="1">
                <a:solidFill>
                  <a:srgbClr val="F3F7FF"/>
                </a:solidFill>
                <a:latin typeface="Arial"/>
              </a:rPr>
              <a:t>Adaptive Multi-Agent</a:t>
            </a:r>
            <a:endParaRPr lang="en-US" sz="4000"/>
          </a:p>
        </p:txBody>
      </p:sp>
      <p:sp>
        <p:nvSpPr>
          <p:cNvPr id="50" name="Text"/>
          <p:cNvSpPr txBox="1"/>
          <p:nvPr/>
        </p:nvSpPr>
        <p:spPr>
          <a:xfrm>
            <a:off x="685800" y="3127248"/>
            <a:ext cx="75895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4200" b="1">
                <a:solidFill>
                  <a:srgbClr val="00E5FF"/>
                </a:solidFill>
                <a:latin typeface="Arial"/>
              </a:rPr>
              <a:t>LLM Defense Lab</a:t>
            </a:r>
            <a:endParaRPr lang="en-US" sz="4200"/>
          </a:p>
        </p:txBody>
      </p:sp>
      <p:sp>
        <p:nvSpPr>
          <p:cNvPr id="51" name="Rectangle"/>
          <p:cNvSpPr/>
          <p:nvPr/>
        </p:nvSpPr>
        <p:spPr>
          <a:xfrm>
            <a:off x="685800" y="3840480"/>
            <a:ext cx="5577840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</a:ln>
        </p:spPr>
        <p:txBody>
          <a:bodyPr/>
          <a:lstStyle/>
          <a:p/>
        </p:txBody>
      </p:sp>
      <p:sp>
        <p:nvSpPr>
          <p:cNvPr id="52" name="Text"/>
          <p:cNvSpPr txBox="1"/>
          <p:nvPr/>
        </p:nvSpPr>
        <p:spPr>
          <a:xfrm>
            <a:off x="685800" y="4187952"/>
            <a:ext cx="7955279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2100" b="1">
                <a:solidFill>
                  <a:srgbClr val="F3F7FF"/>
                </a:solidFill>
                <a:latin typeface="Arial"/>
              </a:rPr>
              <a:t>Adaptive AI Security Through Agentic Defense, Live Memory, and Controlled Demonstration</a:t>
            </a:r>
            <a:endParaRPr lang="en-US" sz="2100"/>
          </a:p>
        </p:txBody>
      </p:sp>
      <p:sp>
        <p:nvSpPr>
          <p:cNvPr id="53" name="Text"/>
          <p:cNvSpPr txBox="1"/>
          <p:nvPr/>
        </p:nvSpPr>
        <p:spPr>
          <a:xfrm>
            <a:off x="685800" y="5074920"/>
            <a:ext cx="4480560" cy="402336"/>
          </a:xfrm>
          <a:prstGeom prst="roundRect">
            <a:avLst/>
          </a:prstGeom>
          <a:solidFill>
            <a:srgbClr val="0A1024"/>
          </a:solidFill>
          <a:ln w="12700">
            <a:solidFill>
              <a:srgbClr val="00E5FF"/>
            </a:solidFill>
          </a:ln>
        </p:spPr>
        <p:txBody>
          <a:bodyPr wrap="square" anchor="t" lIns="91440" tIns="91440" rIns="91440" bIns="91440"/>
          <a:lstStyle/>
          <a:p>
            <a:r>
              <a:rPr lang="en-US" sz="1800" b="1">
                <a:solidFill>
                  <a:srgbClr val="F3F7FF"/>
                </a:solidFill>
                <a:latin typeface="Arial"/>
              </a:rPr>
              <a:t>Author: Saad El Hadaoui</a:t>
            </a:r>
            <a:endParaRPr lang="en-US" sz="1800"/>
          </a:p>
        </p:txBody>
      </p:sp>
      <p:sp>
        <p:nvSpPr>
          <p:cNvPr id="54" name="Text"/>
          <p:cNvSpPr txBox="1"/>
          <p:nvPr/>
        </p:nvSpPr>
        <p:spPr>
          <a:xfrm>
            <a:off x="685800" y="5559552"/>
            <a:ext cx="5577840" cy="402336"/>
          </a:xfrm>
          <a:prstGeom prst="roundRect">
            <a:avLst/>
          </a:prstGeom>
          <a:solidFill>
            <a:srgbClr val="0A1024"/>
          </a:solidFill>
          <a:ln w="12700">
            <a:solidFill>
              <a:srgbClr val="00E5FF"/>
            </a:solidFill>
          </a:ln>
        </p:spPr>
        <p:txBody>
          <a:bodyPr wrap="square" anchor="t" lIns="91440" tIns="91440" rIns="91440" bIns="91440"/>
          <a:lstStyle/>
          <a:p>
            <a:r>
              <a:rPr lang="en-US" sz="1500" b="0">
                <a:solidFill>
                  <a:srgbClr val="B5C2D8"/>
                </a:solidFill>
                <a:latin typeface="Arial"/>
              </a:rPr>
              <a:t>Institution: EMSI - Ecole Marocaine des Sciences de l'Ingenieur</a:t>
            </a:r>
            <a:endParaRPr lang="en-US" sz="1500"/>
          </a:p>
        </p:txBody>
      </p:sp>
      <p:sp>
        <p:nvSpPr>
          <p:cNvPr id="55" name="Text"/>
          <p:cNvSpPr txBox="1"/>
          <p:nvPr/>
        </p:nvSpPr>
        <p:spPr>
          <a:xfrm>
            <a:off x="6537960" y="5074920"/>
            <a:ext cx="4251960" cy="886968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00E5FF"/>
            </a:solidFill>
          </a:ln>
        </p:spPr>
        <p:txBody>
          <a:bodyPr wrap="square" anchor="t" lIns="91440" tIns="91440" rIns="91440" bIns="91440"/>
          <a:lstStyle/>
          <a:p>
            <a:r>
              <a:rPr lang="en-US" sz="1600" b="1">
                <a:solidFill>
                  <a:srgbClr val="F3F7FF"/>
                </a:solidFill>
                <a:latin typeface="Arial"/>
              </a:rPr>
              <a:t>Final Technical Presentation</a:t>
            </a:r>
            <a:endParaRPr lang="en-US" sz="1600"/>
          </a:p>
          <a:p>
            <a:r>
              <a:rPr lang="en-US" sz="1600" b="1">
                <a:solidFill>
                  <a:srgbClr val="F3F7FF"/>
                </a:solidFill>
                <a:latin typeface="Arial"/>
              </a:rPr>
              <a:t>Streamlit | Ollama | SQLite | Multi-Agent Defense</a:t>
            </a:r>
            <a:endParaRPr lang="en-US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</a:ln>
        </p:spPr>
        <p:txBody>
          <a:bodyPr/>
          <a:lstStyle/>
          <a:p/>
        </p:txBody>
      </p:sp>
      <p:sp>
        <p:nvSpPr>
          <p:cNvPr id="3" name="Grid V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4" name="Grid V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5" name="Grid V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6" name="Grid V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7" name="Grid V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8" name="Grid V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9" name="Grid V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0" name="Grid V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1" name="Grid V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2" name="Grid V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3" name="Grid V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4" name="Grid V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5" name="Grid V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6" name="Grid V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7" name="Grid V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8" name="Grid V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9" name="Grid V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0" name="Grid V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1" name="Grid V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2" name="Grid V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3" name="Grid V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4" name="Grid V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5" name="Grid V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6" name="Grid V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7" name="Grid V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8" name="Grid V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9" name="Grid V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0" name="Grid V"/>
          <p:cNvSpPr/>
          <p:nvPr/>
        </p:nvSpPr>
        <p:spPr>
          <a:xfrm>
            <a:off x="1234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1" name="Grid H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2" name="Grid H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3" name="Grid H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4" name="Grid H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5" name="Grid H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6" name="Grid H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7" name="Grid H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8" name="Grid H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9" name="Grid H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0" name="Grid H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1" name="Grid H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2" name="Grid H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3" name="Grid H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4" name="Grid H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5" name="Grid H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6" name="Grid H"/>
          <p:cNvSpPr/>
          <p:nvPr/>
        </p:nvSpPr>
        <p:spPr>
          <a:xfrm>
            <a:off x="0" y="6858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7" name="Pill"/>
          <p:cNvSpPr txBox="1"/>
          <p:nvPr/>
        </p:nvSpPr>
        <p:spPr>
          <a:xfrm>
            <a:off x="566928" y="384048"/>
            <a:ext cx="347472" cy="201168"/>
          </a:xfrm>
          <a:prstGeom prst="roundRect">
            <a:avLst/>
          </a:prstGeom>
          <a:solidFill>
            <a:srgbClr val="0A1024"/>
          </a:solidFill>
          <a:ln w="12700">
            <a:solidFill>
              <a:srgbClr val="00E5FF"/>
            </a:solidFill>
          </a:ln>
        </p:spPr>
        <p:txBody>
          <a:bodyPr wrap="square" anchor="t" lIns="40000" tIns="40000" rIns="40000" bIns="40000"/>
          <a:lstStyle/>
          <a:p>
            <a:r>
              <a:rPr lang="en-US" sz="1000" b="1">
                <a:solidFill>
                  <a:srgbClr val="00E5FF"/>
                </a:solidFill>
                <a:latin typeface="Arial"/>
              </a:rPr>
              <a:t>01</a:t>
            </a:r>
            <a:endParaRPr lang="en-US" sz="1000"/>
          </a:p>
        </p:txBody>
      </p:sp>
      <p:sp>
        <p:nvSpPr>
          <p:cNvPr id="48" name="Slide Title"/>
          <p:cNvSpPr txBox="1"/>
          <p:nvPr/>
        </p:nvSpPr>
        <p:spPr>
          <a:xfrm>
            <a:off x="566928" y="75895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3000" b="1">
                <a:solidFill>
                  <a:srgbClr val="F3F7FF"/>
                </a:solidFill>
                <a:latin typeface="Arial"/>
              </a:rPr>
              <a:t>Summary, Motivation, Context</a:t>
            </a:r>
            <a:endParaRPr lang="en-US" sz="3000"/>
          </a:p>
        </p:txBody>
      </p:sp>
      <p:sp>
        <p:nvSpPr>
          <p:cNvPr id="49" name="Title Underline"/>
          <p:cNvSpPr/>
          <p:nvPr/>
        </p:nvSpPr>
        <p:spPr>
          <a:xfrm>
            <a:off x="566928" y="1216152"/>
            <a:ext cx="3474720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</a:ln>
        </p:spPr>
        <p:txBody>
          <a:bodyPr/>
          <a:lstStyle/>
          <a:p/>
        </p:txBody>
      </p:sp>
      <p:sp>
        <p:nvSpPr>
          <p:cNvPr id="50" name="Subtitle"/>
          <p:cNvSpPr txBox="1"/>
          <p:nvPr/>
        </p:nvSpPr>
        <p:spPr>
          <a:xfrm>
            <a:off x="566928" y="1389888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500" b="0">
                <a:solidFill>
                  <a:srgbClr val="B5C2D8"/>
                </a:solidFill>
                <a:latin typeface="Arial"/>
              </a:rPr>
              <a:t>Why this project matters and where it fits in AI security.</a:t>
            </a:r>
            <a:endParaRPr lang="en-US" sz="1500"/>
          </a:p>
        </p:txBody>
      </p:sp>
      <p:sp>
        <p:nvSpPr>
          <p:cNvPr id="51" name="Summary Card"/>
          <p:cNvSpPr/>
          <p:nvPr/>
        </p:nvSpPr>
        <p:spPr>
          <a:xfrm>
            <a:off x="685800" y="1874519"/>
            <a:ext cx="3337560" cy="960120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00E5FF"/>
            </a:solidFill>
          </a:ln>
        </p:spPr>
        <p:txBody>
          <a:bodyPr/>
          <a:lstStyle/>
          <a:p/>
        </p:txBody>
      </p:sp>
      <p:sp>
        <p:nvSpPr>
          <p:cNvPr id="52" name="Summary Title"/>
          <p:cNvSpPr txBox="1"/>
          <p:nvPr/>
        </p:nvSpPr>
        <p:spPr>
          <a:xfrm>
            <a:off x="850392" y="2039112"/>
            <a:ext cx="3008376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600" b="1">
                <a:solidFill>
                  <a:srgbClr val="F3F7FF"/>
                </a:solidFill>
                <a:latin typeface="Arial"/>
              </a:rPr>
              <a:t>Summary</a:t>
            </a:r>
            <a:endParaRPr lang="en-US" sz="1600"/>
          </a:p>
        </p:txBody>
      </p:sp>
      <p:sp>
        <p:nvSpPr>
          <p:cNvPr id="53" name="Summary Body"/>
          <p:cNvSpPr txBox="1"/>
          <p:nvPr/>
        </p:nvSpPr>
        <p:spPr>
          <a:xfrm>
            <a:off x="850392" y="2404872"/>
            <a:ext cx="3008376" cy="28346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100" b="0">
                <a:solidFill>
                  <a:srgbClr val="B5C2D8"/>
                </a:solidFill>
                <a:latin typeface="Arial"/>
              </a:rPr>
              <a:t>A live defense lab that protects an LLM chatbot using defender, evaluator, learner, and memory components.</a:t>
            </a:r>
            <a:endParaRPr lang="en-US" sz="1100"/>
          </a:p>
        </p:txBody>
      </p:sp>
      <p:sp>
        <p:nvSpPr>
          <p:cNvPr id="54" name="Motivation Card"/>
          <p:cNvSpPr/>
          <p:nvPr/>
        </p:nvSpPr>
        <p:spPr>
          <a:xfrm>
            <a:off x="685800" y="3063240"/>
            <a:ext cx="3337560" cy="960120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F97316"/>
            </a:solidFill>
          </a:ln>
        </p:spPr>
        <p:txBody>
          <a:bodyPr/>
          <a:lstStyle/>
          <a:p/>
        </p:txBody>
      </p:sp>
      <p:sp>
        <p:nvSpPr>
          <p:cNvPr id="55" name="Motivation Title"/>
          <p:cNvSpPr txBox="1"/>
          <p:nvPr/>
        </p:nvSpPr>
        <p:spPr>
          <a:xfrm>
            <a:off x="850392" y="3227832"/>
            <a:ext cx="3008376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600" b="1">
                <a:solidFill>
                  <a:srgbClr val="F3F7FF"/>
                </a:solidFill>
                <a:latin typeface="Arial"/>
              </a:rPr>
              <a:t>Motivation</a:t>
            </a:r>
            <a:endParaRPr lang="en-US" sz="1600"/>
          </a:p>
        </p:txBody>
      </p:sp>
      <p:sp>
        <p:nvSpPr>
          <p:cNvPr id="56" name="Motivation Body"/>
          <p:cNvSpPr txBox="1"/>
          <p:nvPr/>
        </p:nvSpPr>
        <p:spPr>
          <a:xfrm>
            <a:off x="850392" y="3593592"/>
            <a:ext cx="3008376" cy="28346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100" b="0">
                <a:solidFill>
                  <a:srgbClr val="B5C2D8"/>
                </a:solidFill>
                <a:latin typeface="Arial"/>
              </a:rPr>
              <a:t>LLM applications can be manipulated by prompt injection, jailbreak attempts, and data exfiltration prompts.</a:t>
            </a:r>
            <a:endParaRPr lang="en-US" sz="1100"/>
          </a:p>
        </p:txBody>
      </p:sp>
      <p:sp>
        <p:nvSpPr>
          <p:cNvPr id="57" name="Context Card"/>
          <p:cNvSpPr/>
          <p:nvPr/>
        </p:nvSpPr>
        <p:spPr>
          <a:xfrm>
            <a:off x="685800" y="4251960"/>
            <a:ext cx="3337560" cy="960120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20FF7D"/>
            </a:solidFill>
          </a:ln>
        </p:spPr>
        <p:txBody>
          <a:bodyPr/>
          <a:lstStyle/>
          <a:p/>
        </p:txBody>
      </p:sp>
      <p:sp>
        <p:nvSpPr>
          <p:cNvPr id="58" name="Context Title"/>
          <p:cNvSpPr txBox="1"/>
          <p:nvPr/>
        </p:nvSpPr>
        <p:spPr>
          <a:xfrm>
            <a:off x="850392" y="4416552"/>
            <a:ext cx="3008376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600" b="1">
                <a:solidFill>
                  <a:srgbClr val="F3F7FF"/>
                </a:solidFill>
                <a:latin typeface="Arial"/>
              </a:rPr>
              <a:t>Context</a:t>
            </a:r>
            <a:endParaRPr lang="en-US" sz="1600"/>
          </a:p>
        </p:txBody>
      </p:sp>
      <p:sp>
        <p:nvSpPr>
          <p:cNvPr id="59" name="Context Body"/>
          <p:cNvSpPr txBox="1"/>
          <p:nvPr/>
        </p:nvSpPr>
        <p:spPr>
          <a:xfrm>
            <a:off x="850392" y="4782312"/>
            <a:ext cx="3008376" cy="28346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100" b="0">
                <a:solidFill>
                  <a:srgbClr val="B5C2D8"/>
                </a:solidFill>
                <a:latin typeface="Arial"/>
              </a:rPr>
              <a:t>Chatbots are increasingly connected to tools, databases, documents, and internal workflows.</a:t>
            </a:r>
            <a:endParaRPr lang="en-US" sz="1100"/>
          </a:p>
        </p:txBody>
      </p:sp>
      <p:pic>
        <p:nvPicPr>
          <p:cNvPr id="60" name="Application Overview Screenshot"/>
          <p:cNvPicPr/>
          <p:nvPr/>
        </p:nvPicPr>
        <p:blipFill>
          <a:blip r:embed="rId2"/>
          <a:stretch>
            <a:fillRect/>
          </a:stretch>
        </p:blipFill>
        <p:spPr>
          <a:xfrm>
            <a:off x="4657003" y="1810512"/>
            <a:ext cx="6642272" cy="4462272"/>
          </a:xfrm>
          <a:prstGeom prst="rect">
            <a:avLst/>
          </a:prstGeom>
          <a:ln w="12700">
            <a:solidFill>
              <a:srgbClr val="00E5FF">
                <a:alpha val="80000"/>
              </a:srgbClr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</a:ln>
        </p:spPr>
        <p:txBody>
          <a:bodyPr/>
          <a:lstStyle/>
          <a:p/>
        </p:txBody>
      </p:sp>
      <p:sp>
        <p:nvSpPr>
          <p:cNvPr id="3" name="Grid V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4" name="Grid V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5" name="Grid V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6" name="Grid V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7" name="Grid V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8" name="Grid V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9" name="Grid V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0" name="Grid V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1" name="Grid V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2" name="Grid V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3" name="Grid V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4" name="Grid V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5" name="Grid V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6" name="Grid V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7" name="Grid V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8" name="Grid V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9" name="Grid V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0" name="Grid V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1" name="Grid V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2" name="Grid V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3" name="Grid V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4" name="Grid V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5" name="Grid V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6" name="Grid V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7" name="Grid V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8" name="Grid V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9" name="Grid V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0" name="Grid V"/>
          <p:cNvSpPr/>
          <p:nvPr/>
        </p:nvSpPr>
        <p:spPr>
          <a:xfrm>
            <a:off x="1234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1" name="Grid H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2" name="Grid H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3" name="Grid H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4" name="Grid H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5" name="Grid H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6" name="Grid H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7" name="Grid H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8" name="Grid H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9" name="Grid H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0" name="Grid H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1" name="Grid H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2" name="Grid H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3" name="Grid H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4" name="Grid H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5" name="Grid H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6" name="Grid H"/>
          <p:cNvSpPr/>
          <p:nvPr/>
        </p:nvSpPr>
        <p:spPr>
          <a:xfrm>
            <a:off x="0" y="6858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7" name="Pill"/>
          <p:cNvSpPr txBox="1"/>
          <p:nvPr/>
        </p:nvSpPr>
        <p:spPr>
          <a:xfrm>
            <a:off x="566928" y="384048"/>
            <a:ext cx="347472" cy="201168"/>
          </a:xfrm>
          <a:prstGeom prst="roundRect">
            <a:avLst/>
          </a:prstGeom>
          <a:solidFill>
            <a:srgbClr val="0A1024"/>
          </a:solidFill>
          <a:ln w="12700">
            <a:solidFill>
              <a:srgbClr val="00E5FF"/>
            </a:solidFill>
          </a:ln>
        </p:spPr>
        <p:txBody>
          <a:bodyPr wrap="square" anchor="t" lIns="40000" tIns="40000" rIns="40000" bIns="40000"/>
          <a:lstStyle/>
          <a:p>
            <a:r>
              <a:rPr lang="en-US" sz="1000" b="1">
                <a:solidFill>
                  <a:srgbClr val="00E5FF"/>
                </a:solidFill>
                <a:latin typeface="Arial"/>
              </a:rPr>
              <a:t>02</a:t>
            </a:r>
            <a:endParaRPr lang="en-US" sz="1000"/>
          </a:p>
        </p:txBody>
      </p:sp>
      <p:sp>
        <p:nvSpPr>
          <p:cNvPr id="48" name="Slide Title"/>
          <p:cNvSpPr txBox="1"/>
          <p:nvPr/>
        </p:nvSpPr>
        <p:spPr>
          <a:xfrm>
            <a:off x="566928" y="75895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3000" b="1">
                <a:solidFill>
                  <a:srgbClr val="F3F7FF"/>
                </a:solidFill>
                <a:latin typeface="Arial"/>
              </a:rPr>
              <a:t>State of the Art and Research Gap</a:t>
            </a:r>
            <a:endParaRPr lang="en-US" sz="3000"/>
          </a:p>
        </p:txBody>
      </p:sp>
      <p:sp>
        <p:nvSpPr>
          <p:cNvPr id="49" name="Title Underline"/>
          <p:cNvSpPr/>
          <p:nvPr/>
        </p:nvSpPr>
        <p:spPr>
          <a:xfrm>
            <a:off x="566928" y="1216152"/>
            <a:ext cx="3474720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</a:ln>
        </p:spPr>
        <p:txBody>
          <a:bodyPr/>
          <a:lstStyle/>
          <a:p/>
        </p:txBody>
      </p:sp>
      <p:sp>
        <p:nvSpPr>
          <p:cNvPr id="50" name="Subtitle"/>
          <p:cNvSpPr txBox="1"/>
          <p:nvPr/>
        </p:nvSpPr>
        <p:spPr>
          <a:xfrm>
            <a:off x="566928" y="1389888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500" b="0">
                <a:solidFill>
                  <a:srgbClr val="B5C2D8"/>
                </a:solidFill>
                <a:latin typeface="Arial"/>
              </a:rPr>
              <a:t>Existing defenses help, but many remain static or disconnected from memory.</a:t>
            </a:r>
            <a:endParaRPr lang="en-US" sz="1500"/>
          </a:p>
        </p:txBody>
      </p:sp>
      <p:sp>
        <p:nvSpPr>
          <p:cNvPr id="51" name="Text"/>
          <p:cNvSpPr txBox="1"/>
          <p:nvPr/>
        </p:nvSpPr>
        <p:spPr>
          <a:xfrm>
            <a:off x="685800" y="1828800"/>
            <a:ext cx="5029200" cy="3337560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00E5FF"/>
            </a:solidFill>
          </a:ln>
        </p:spPr>
        <p:txBody>
          <a:bodyPr wrap="square" anchor="t" lIns="91440" tIns="91440" rIns="91440" bIns="91440"/>
          <a:lstStyle/>
          <a:p>
            <a:r>
              <a:rPr lang="en-US" sz="1800" b="0">
                <a:solidFill>
                  <a:srgbClr val="F3F7FF"/>
                </a:solidFill>
                <a:latin typeface="Arial"/>
              </a:rPr>
              <a:t>State of the Art</a:t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/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>• System prompts and policy instructions</a:t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>• Keyword filters and rule-based guardrails</a:t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>• Moderation classifiers</a:t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>• RAG filtering and document access rules</a:t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>• Red-team datasets and human evaluation</a:t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>• Prompt injection and jailbreak benchmark suites</a:t>
            </a:r>
            <a:endParaRPr lang="en-US" sz="1800"/>
          </a:p>
        </p:txBody>
      </p:sp>
      <p:sp>
        <p:nvSpPr>
          <p:cNvPr id="52" name="Text"/>
          <p:cNvSpPr txBox="1"/>
          <p:nvPr/>
        </p:nvSpPr>
        <p:spPr>
          <a:xfrm>
            <a:off x="6172200" y="1828800"/>
            <a:ext cx="5029200" cy="3337560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F97316"/>
            </a:solidFill>
          </a:ln>
        </p:spPr>
        <p:txBody>
          <a:bodyPr wrap="square" anchor="t" lIns="91440" tIns="91440" rIns="91440" bIns="91440"/>
          <a:lstStyle/>
          <a:p>
            <a:r>
              <a:rPr lang="en-US" sz="1800" b="0">
                <a:solidFill>
                  <a:srgbClr val="F3F7FF"/>
                </a:solidFill>
                <a:latin typeface="Arial"/>
              </a:rPr>
              <a:t>Research Gap</a:t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/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>• Static filters do not adapt to new attack variants</a:t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>• Many defenses do not store reusable memory</a:t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>• Evaluation is often separate from the running app</a:t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>• Demonstrations rarely show learning after failure</a:t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>• Need a safe way to show attacks without real data leakage</a:t>
            </a:r>
            <a:endParaRPr lang="en-US" sz="1800"/>
          </a:p>
        </p:txBody>
      </p:sp>
      <p:sp>
        <p:nvSpPr>
          <p:cNvPr id="53" name="Text"/>
          <p:cNvSpPr txBox="1"/>
          <p:nvPr/>
        </p:nvSpPr>
        <p:spPr>
          <a:xfrm>
            <a:off x="1005840" y="5577840"/>
            <a:ext cx="9875520" cy="493776"/>
          </a:xfrm>
          <a:prstGeom prst="roundRect">
            <a:avLst/>
          </a:prstGeom>
          <a:solidFill>
            <a:srgbClr val="0A1024"/>
          </a:solidFill>
          <a:ln w="12700">
            <a:solidFill>
              <a:srgbClr val="20FF7D"/>
            </a:solidFill>
          </a:ln>
        </p:spPr>
        <p:txBody>
          <a:bodyPr wrap="square" anchor="t" lIns="91440" tIns="91440" rIns="91440" bIns="91440"/>
          <a:lstStyle/>
          <a:p>
            <a:r>
              <a:rPr lang="en-US" sz="1900" b="1">
                <a:solidFill>
                  <a:srgbClr val="20FF7D"/>
                </a:solidFill>
                <a:latin typeface="Arial"/>
              </a:rPr>
              <a:t>Project idea: connect defense, evaluation, learning, and persistent memory in one visible live loop.</a:t>
            </a:r>
            <a:endParaRPr lang="en-US"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</a:ln>
        </p:spPr>
        <p:txBody>
          <a:bodyPr/>
          <a:lstStyle/>
          <a:p/>
        </p:txBody>
      </p:sp>
      <p:sp>
        <p:nvSpPr>
          <p:cNvPr id="3" name="Grid V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4" name="Grid V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5" name="Grid V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6" name="Grid V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7" name="Grid V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8" name="Grid V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9" name="Grid V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0" name="Grid V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1" name="Grid V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2" name="Grid V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3" name="Grid V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4" name="Grid V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5" name="Grid V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6" name="Grid V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7" name="Grid V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8" name="Grid V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9" name="Grid V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0" name="Grid V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1" name="Grid V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2" name="Grid V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3" name="Grid V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4" name="Grid V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5" name="Grid V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6" name="Grid V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7" name="Grid V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8" name="Grid V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9" name="Grid V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0" name="Grid V"/>
          <p:cNvSpPr/>
          <p:nvPr/>
        </p:nvSpPr>
        <p:spPr>
          <a:xfrm>
            <a:off x="1234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1" name="Grid H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2" name="Grid H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3" name="Grid H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4" name="Grid H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5" name="Grid H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6" name="Grid H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7" name="Grid H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8" name="Grid H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9" name="Grid H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0" name="Grid H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1" name="Grid H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2" name="Grid H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3" name="Grid H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4" name="Grid H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5" name="Grid H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6" name="Grid H"/>
          <p:cNvSpPr/>
          <p:nvPr/>
        </p:nvSpPr>
        <p:spPr>
          <a:xfrm>
            <a:off x="0" y="6858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7" name="Pill"/>
          <p:cNvSpPr txBox="1"/>
          <p:nvPr/>
        </p:nvSpPr>
        <p:spPr>
          <a:xfrm>
            <a:off x="566928" y="384048"/>
            <a:ext cx="347472" cy="201168"/>
          </a:xfrm>
          <a:prstGeom prst="roundRect">
            <a:avLst/>
          </a:prstGeom>
          <a:solidFill>
            <a:srgbClr val="0A1024"/>
          </a:solidFill>
          <a:ln w="12700">
            <a:solidFill>
              <a:srgbClr val="00E5FF"/>
            </a:solidFill>
          </a:ln>
        </p:spPr>
        <p:txBody>
          <a:bodyPr wrap="square" anchor="t" lIns="40000" tIns="40000" rIns="40000" bIns="40000"/>
          <a:lstStyle/>
          <a:p>
            <a:r>
              <a:rPr lang="en-US" sz="1000" b="1">
                <a:solidFill>
                  <a:srgbClr val="00E5FF"/>
                </a:solidFill>
                <a:latin typeface="Arial"/>
              </a:rPr>
              <a:t>03</a:t>
            </a:r>
            <a:endParaRPr lang="en-US" sz="1000"/>
          </a:p>
        </p:txBody>
      </p:sp>
      <p:sp>
        <p:nvSpPr>
          <p:cNvPr id="48" name="Slide Title"/>
          <p:cNvSpPr txBox="1"/>
          <p:nvPr/>
        </p:nvSpPr>
        <p:spPr>
          <a:xfrm>
            <a:off x="566928" y="75895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3000" b="1">
                <a:solidFill>
                  <a:srgbClr val="F3F7FF"/>
                </a:solidFill>
                <a:latin typeface="Arial"/>
              </a:rPr>
              <a:t>Proposed Framework</a:t>
            </a:r>
            <a:endParaRPr lang="en-US" sz="3000"/>
          </a:p>
        </p:txBody>
      </p:sp>
      <p:sp>
        <p:nvSpPr>
          <p:cNvPr id="49" name="Title Underline"/>
          <p:cNvSpPr/>
          <p:nvPr/>
        </p:nvSpPr>
        <p:spPr>
          <a:xfrm>
            <a:off x="566928" y="1216152"/>
            <a:ext cx="3474720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</a:ln>
        </p:spPr>
        <p:txBody>
          <a:bodyPr/>
          <a:lstStyle/>
          <a:p/>
        </p:txBody>
      </p:sp>
      <p:sp>
        <p:nvSpPr>
          <p:cNvPr id="50" name="Subtitle"/>
          <p:cNvSpPr txBox="1"/>
          <p:nvPr/>
        </p:nvSpPr>
        <p:spPr>
          <a:xfrm>
            <a:off x="566928" y="1389888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500" b="0">
                <a:solidFill>
                  <a:srgbClr val="B5C2D8"/>
                </a:solidFill>
                <a:latin typeface="Arial"/>
              </a:rPr>
              <a:t>Full system pipeline and toolchain used in the project.</a:t>
            </a:r>
            <a:endParaRPr lang="en-US" sz="1500"/>
          </a:p>
        </p:txBody>
      </p:sp>
      <p:sp>
        <p:nvSpPr>
          <p:cNvPr id="51" name="Text"/>
          <p:cNvSpPr txBox="1"/>
          <p:nvPr/>
        </p:nvSpPr>
        <p:spPr>
          <a:xfrm>
            <a:off x="594360" y="2240280"/>
            <a:ext cx="1508760" cy="566928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2F8CFF"/>
            </a:solidFill>
          </a:ln>
        </p:spPr>
        <p:txBody>
          <a:bodyPr wrap="square" anchor="t" lIns="50000" tIns="50000" rIns="50000" bIns="50000"/>
          <a:lstStyle/>
          <a:p>
            <a:r>
              <a:rPr lang="en-US" sz="1300" b="1">
                <a:solidFill>
                  <a:srgbClr val="F3F7FF"/>
                </a:solidFill>
                <a:latin typeface="Arial"/>
              </a:rPr>
              <a:t>User Prompt</a:t>
            </a:r>
            <a:endParaRPr lang="en-US" sz="1300"/>
          </a:p>
        </p:txBody>
      </p:sp>
      <p:sp>
        <p:nvSpPr>
          <p:cNvPr id="52" name="Text"/>
          <p:cNvSpPr txBox="1"/>
          <p:nvPr/>
        </p:nvSpPr>
        <p:spPr>
          <a:xfrm>
            <a:off x="2331720" y="2240280"/>
            <a:ext cx="1508760" cy="566928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00E5FF"/>
            </a:solidFill>
          </a:ln>
        </p:spPr>
        <p:txBody>
          <a:bodyPr wrap="square" anchor="t" lIns="50000" tIns="50000" rIns="50000" bIns="50000"/>
          <a:lstStyle/>
          <a:p>
            <a:r>
              <a:rPr lang="en-US" sz="1300" b="1">
                <a:solidFill>
                  <a:srgbClr val="F3F7FF"/>
                </a:solidFill>
                <a:latin typeface="Arial"/>
              </a:rPr>
              <a:t>Defender Agent</a:t>
            </a:r>
            <a:endParaRPr lang="en-US" sz="1300"/>
          </a:p>
        </p:txBody>
      </p:sp>
      <p:sp>
        <p:nvSpPr>
          <p:cNvPr id="53" name="Text"/>
          <p:cNvSpPr txBox="1"/>
          <p:nvPr/>
        </p:nvSpPr>
        <p:spPr>
          <a:xfrm>
            <a:off x="4343400" y="2240280"/>
            <a:ext cx="1508760" cy="566928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20FF7D"/>
            </a:solidFill>
          </a:ln>
        </p:spPr>
        <p:txBody>
          <a:bodyPr wrap="square" anchor="t" lIns="50000" tIns="50000" rIns="50000" bIns="50000"/>
          <a:lstStyle/>
          <a:p>
            <a:r>
              <a:rPr lang="en-US" sz="1300" b="1">
                <a:solidFill>
                  <a:srgbClr val="F3F7FF"/>
                </a:solidFill>
                <a:latin typeface="Arial"/>
              </a:rPr>
              <a:t>Protected Chatbot</a:t>
            </a:r>
            <a:endParaRPr lang="en-US" sz="1300"/>
          </a:p>
        </p:txBody>
      </p:sp>
      <p:sp>
        <p:nvSpPr>
          <p:cNvPr id="54" name="Text"/>
          <p:cNvSpPr txBox="1"/>
          <p:nvPr/>
        </p:nvSpPr>
        <p:spPr>
          <a:xfrm>
            <a:off x="6446520" y="2240280"/>
            <a:ext cx="1508760" cy="566928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F97316"/>
            </a:solidFill>
          </a:ln>
        </p:spPr>
        <p:txBody>
          <a:bodyPr wrap="square" anchor="t" lIns="50000" tIns="50000" rIns="50000" bIns="50000"/>
          <a:lstStyle/>
          <a:p>
            <a:r>
              <a:rPr lang="en-US" sz="1300" b="1">
                <a:solidFill>
                  <a:srgbClr val="F3F7FF"/>
                </a:solidFill>
                <a:latin typeface="Arial"/>
              </a:rPr>
              <a:t>Evaluator Agent</a:t>
            </a:r>
            <a:endParaRPr lang="en-US" sz="1300"/>
          </a:p>
        </p:txBody>
      </p:sp>
      <p:sp>
        <p:nvSpPr>
          <p:cNvPr id="55" name="Text"/>
          <p:cNvSpPr txBox="1"/>
          <p:nvPr/>
        </p:nvSpPr>
        <p:spPr>
          <a:xfrm>
            <a:off x="8458200" y="2240280"/>
            <a:ext cx="1508760" cy="566928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8B5CF6"/>
            </a:solidFill>
          </a:ln>
        </p:spPr>
        <p:txBody>
          <a:bodyPr wrap="square" anchor="t" lIns="50000" tIns="50000" rIns="50000" bIns="50000"/>
          <a:lstStyle/>
          <a:p>
            <a:r>
              <a:rPr lang="en-US" sz="1300" b="1">
                <a:solidFill>
                  <a:srgbClr val="F3F7FF"/>
                </a:solidFill>
                <a:latin typeface="Arial"/>
              </a:rPr>
              <a:t>Learning Agent</a:t>
            </a:r>
            <a:endParaRPr lang="en-US" sz="1300"/>
          </a:p>
        </p:txBody>
      </p:sp>
      <p:sp>
        <p:nvSpPr>
          <p:cNvPr id="56" name="Text"/>
          <p:cNvSpPr txBox="1"/>
          <p:nvPr/>
        </p:nvSpPr>
        <p:spPr>
          <a:xfrm>
            <a:off x="5349240" y="3794760"/>
            <a:ext cx="1508760" cy="566928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00E5FF"/>
            </a:solidFill>
          </a:ln>
        </p:spPr>
        <p:txBody>
          <a:bodyPr wrap="square" anchor="t" lIns="50000" tIns="50000" rIns="50000" bIns="50000"/>
          <a:lstStyle/>
          <a:p>
            <a:r>
              <a:rPr lang="en-US" sz="1300" b="1">
                <a:solidFill>
                  <a:srgbClr val="F3F7FF"/>
                </a:solidFill>
                <a:latin typeface="Arial"/>
              </a:rPr>
              <a:t>SQLite Memory</a:t>
            </a:r>
            <a:endParaRPr lang="en-US" sz="1300"/>
          </a:p>
        </p:txBody>
      </p:sp>
      <p:cxnSp>
        <p:nvCxnSpPr>
          <p:cNvPr id="57" name="Arrow"/>
          <p:cNvCxnSpPr/>
          <p:nvPr/>
        </p:nvCxnSpPr>
        <p:spPr>
          <a:xfrm>
            <a:off x="2103120" y="2523744"/>
            <a:ext cx="219456" cy="0"/>
          </a:xfrm>
          <a:prstGeom prst="straightConnector1">
            <a:avLst/>
          </a:prstGeom>
          <a:ln w="25400">
            <a:solidFill>
              <a:srgbClr val="00E5FF"/>
            </a:solidFill>
            <a:tailEnd type="none"/>
            <a:headEnd type="triangle"/>
          </a:ln>
        </p:spPr>
      </p:cxnSp>
      <p:cxnSp>
        <p:nvCxnSpPr>
          <p:cNvPr id="58" name="Arrow"/>
          <p:cNvCxnSpPr/>
          <p:nvPr/>
        </p:nvCxnSpPr>
        <p:spPr>
          <a:xfrm>
            <a:off x="3840480" y="2523744"/>
            <a:ext cx="493776" cy="0"/>
          </a:xfrm>
          <a:prstGeom prst="straightConnector1">
            <a:avLst/>
          </a:prstGeom>
          <a:ln w="25400">
            <a:solidFill>
              <a:srgbClr val="00E5FF"/>
            </a:solidFill>
            <a:tailEnd type="none"/>
            <a:headEnd type="triangle"/>
          </a:ln>
        </p:spPr>
      </p:cxnSp>
      <p:cxnSp>
        <p:nvCxnSpPr>
          <p:cNvPr id="59" name="Arrow"/>
          <p:cNvCxnSpPr/>
          <p:nvPr/>
        </p:nvCxnSpPr>
        <p:spPr>
          <a:xfrm>
            <a:off x="5852160" y="2523744"/>
            <a:ext cx="585215" cy="0"/>
          </a:xfrm>
          <a:prstGeom prst="straightConnector1">
            <a:avLst/>
          </a:prstGeom>
          <a:ln w="25400">
            <a:solidFill>
              <a:srgbClr val="00E5FF"/>
            </a:solidFill>
            <a:tailEnd type="none"/>
            <a:headEnd type="triangle"/>
          </a:ln>
        </p:spPr>
      </p:cxnSp>
      <p:cxnSp>
        <p:nvCxnSpPr>
          <p:cNvPr id="60" name="Arrow"/>
          <p:cNvCxnSpPr/>
          <p:nvPr/>
        </p:nvCxnSpPr>
        <p:spPr>
          <a:xfrm>
            <a:off x="7955279" y="2523744"/>
            <a:ext cx="493776" cy="0"/>
          </a:xfrm>
          <a:prstGeom prst="straightConnector1">
            <a:avLst/>
          </a:prstGeom>
          <a:ln w="25400">
            <a:solidFill>
              <a:srgbClr val="00E5FF"/>
            </a:solidFill>
            <a:tailEnd type="none"/>
            <a:headEnd type="triangle"/>
          </a:ln>
        </p:spPr>
      </p:cxnSp>
      <p:cxnSp>
        <p:nvCxnSpPr>
          <p:cNvPr id="61" name="Arrow"/>
          <p:cNvCxnSpPr/>
          <p:nvPr/>
        </p:nvCxnSpPr>
        <p:spPr>
          <a:xfrm>
            <a:off x="6144768" y="2816352"/>
            <a:ext cx="3044952" cy="978408"/>
          </a:xfrm>
          <a:prstGeom prst="straightConnector1">
            <a:avLst/>
          </a:prstGeom>
          <a:ln w="25400">
            <a:solidFill>
              <a:srgbClr val="00E5FF"/>
            </a:solidFill>
            <a:tailEnd type="none"/>
            <a:headEnd type="triangle"/>
          </a:ln>
        </p:spPr>
      </p:cxnSp>
      <p:cxnSp>
        <p:nvCxnSpPr>
          <p:cNvPr id="62" name="Arrow"/>
          <p:cNvCxnSpPr/>
          <p:nvPr/>
        </p:nvCxnSpPr>
        <p:spPr>
          <a:xfrm>
            <a:off x="3090672" y="2816352"/>
            <a:ext cx="3054096" cy="978408"/>
          </a:xfrm>
          <a:prstGeom prst="straightConnector1">
            <a:avLst/>
          </a:prstGeom>
          <a:ln w="25400">
            <a:solidFill>
              <a:srgbClr val="00E5FF"/>
            </a:solidFill>
            <a:tailEnd type="none"/>
            <a:headEnd type="triangle"/>
          </a:ln>
        </p:spPr>
      </p:cxnSp>
      <p:sp>
        <p:nvSpPr>
          <p:cNvPr id="63" name="Text"/>
          <p:cNvSpPr txBox="1"/>
          <p:nvPr/>
        </p:nvSpPr>
        <p:spPr>
          <a:xfrm>
            <a:off x="685800" y="4800600"/>
            <a:ext cx="4937760" cy="1115568"/>
          </a:xfrm>
          <a:prstGeom prst="roundRect">
            <a:avLst/>
          </a:prstGeom>
          <a:solidFill>
            <a:srgbClr val="0A1024"/>
          </a:solidFill>
          <a:ln w="12700">
            <a:solidFill>
              <a:srgbClr val="00E5FF"/>
            </a:solidFill>
          </a:ln>
        </p:spPr>
        <p:txBody>
          <a:bodyPr wrap="square" anchor="t" lIns="91440" tIns="91440" rIns="91440" bIns="91440"/>
          <a:lstStyle/>
          <a:p>
            <a:r>
              <a:rPr lang="en-US" sz="1600" b="0">
                <a:solidFill>
                  <a:srgbClr val="F3F7FF"/>
                </a:solidFill>
                <a:latin typeface="Arial"/>
              </a:rPr>
              <a:t>Tools</a:t>
            </a:r>
            <a:endParaRPr lang="en-US" sz="1600"/>
          </a:p>
          <a:p>
            <a:r>
              <a:rPr lang="en-US" sz="1600" b="0">
                <a:solidFill>
                  <a:srgbClr val="F3F7FF"/>
                </a:solidFill>
                <a:latin typeface="Arial"/>
              </a:rPr>
              <a:t>Python, Streamlit, Ollama, qwen2.5:14b-instruct-q4_K_M, SQLite, Plotly, local RAG-style retrieval, custom DefenseGraph orchestration.</a:t>
            </a:r>
            <a:endParaRPr lang="en-US" sz="1600"/>
          </a:p>
        </p:txBody>
      </p:sp>
      <p:pic>
        <p:nvPicPr>
          <p:cNvPr id="64" name="Architecture Screenshot"/>
          <p:cNvPicPr/>
          <p:nvPr/>
        </p:nvPicPr>
        <p:blipFill>
          <a:blip r:embed="rId2"/>
          <a:stretch>
            <a:fillRect/>
          </a:stretch>
        </p:blipFill>
        <p:spPr>
          <a:xfrm>
            <a:off x="7515322" y="4434840"/>
            <a:ext cx="2251515" cy="1481328"/>
          </a:xfrm>
          <a:prstGeom prst="rect">
            <a:avLst/>
          </a:prstGeom>
          <a:ln w="12700">
            <a:solidFill>
              <a:srgbClr val="00E5FF">
                <a:alpha val="80000"/>
              </a:srgbClr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</a:ln>
        </p:spPr>
        <p:txBody>
          <a:bodyPr/>
          <a:lstStyle/>
          <a:p/>
        </p:txBody>
      </p:sp>
      <p:sp>
        <p:nvSpPr>
          <p:cNvPr id="3" name="Grid V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4" name="Grid V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5" name="Grid V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6" name="Grid V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7" name="Grid V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8" name="Grid V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9" name="Grid V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0" name="Grid V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1" name="Grid V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2" name="Grid V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3" name="Grid V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4" name="Grid V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5" name="Grid V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6" name="Grid V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7" name="Grid V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8" name="Grid V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9" name="Grid V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0" name="Grid V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1" name="Grid V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2" name="Grid V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3" name="Grid V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4" name="Grid V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5" name="Grid V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6" name="Grid V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7" name="Grid V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8" name="Grid V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9" name="Grid V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0" name="Grid V"/>
          <p:cNvSpPr/>
          <p:nvPr/>
        </p:nvSpPr>
        <p:spPr>
          <a:xfrm>
            <a:off x="1234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1" name="Grid H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2" name="Grid H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3" name="Grid H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4" name="Grid H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5" name="Grid H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6" name="Grid H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7" name="Grid H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8" name="Grid H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9" name="Grid H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0" name="Grid H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1" name="Grid H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2" name="Grid H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3" name="Grid H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4" name="Grid H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5" name="Grid H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6" name="Grid H"/>
          <p:cNvSpPr/>
          <p:nvPr/>
        </p:nvSpPr>
        <p:spPr>
          <a:xfrm>
            <a:off x="0" y="6858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7" name="Pill"/>
          <p:cNvSpPr txBox="1"/>
          <p:nvPr/>
        </p:nvSpPr>
        <p:spPr>
          <a:xfrm>
            <a:off x="566928" y="384048"/>
            <a:ext cx="347472" cy="201168"/>
          </a:xfrm>
          <a:prstGeom prst="roundRect">
            <a:avLst/>
          </a:prstGeom>
          <a:solidFill>
            <a:srgbClr val="0A1024"/>
          </a:solidFill>
          <a:ln w="12700">
            <a:solidFill>
              <a:srgbClr val="00E5FF"/>
            </a:solidFill>
          </a:ln>
        </p:spPr>
        <p:txBody>
          <a:bodyPr wrap="square" anchor="t" lIns="40000" tIns="40000" rIns="40000" bIns="40000"/>
          <a:lstStyle/>
          <a:p>
            <a:r>
              <a:rPr lang="en-US" sz="1000" b="1">
                <a:solidFill>
                  <a:srgbClr val="00E5FF"/>
                </a:solidFill>
                <a:latin typeface="Arial"/>
              </a:rPr>
              <a:t>04</a:t>
            </a:r>
            <a:endParaRPr lang="en-US" sz="1000"/>
          </a:p>
        </p:txBody>
      </p:sp>
      <p:sp>
        <p:nvSpPr>
          <p:cNvPr id="48" name="Slide Title"/>
          <p:cNvSpPr txBox="1"/>
          <p:nvPr/>
        </p:nvSpPr>
        <p:spPr>
          <a:xfrm>
            <a:off x="566928" y="75895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3000" b="1">
                <a:solidFill>
                  <a:srgbClr val="F3F7FF"/>
                </a:solidFill>
                <a:latin typeface="Arial"/>
              </a:rPr>
              <a:t>Agent-by-Agent Explanation</a:t>
            </a:r>
            <a:endParaRPr lang="en-US" sz="3000"/>
          </a:p>
        </p:txBody>
      </p:sp>
      <p:sp>
        <p:nvSpPr>
          <p:cNvPr id="49" name="Title Underline"/>
          <p:cNvSpPr/>
          <p:nvPr/>
        </p:nvSpPr>
        <p:spPr>
          <a:xfrm>
            <a:off x="566928" y="1216152"/>
            <a:ext cx="3474720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</a:ln>
        </p:spPr>
        <p:txBody>
          <a:bodyPr/>
          <a:lstStyle/>
          <a:p/>
        </p:txBody>
      </p:sp>
      <p:sp>
        <p:nvSpPr>
          <p:cNvPr id="50" name="Subtitle"/>
          <p:cNvSpPr txBox="1"/>
          <p:nvPr/>
        </p:nvSpPr>
        <p:spPr>
          <a:xfrm>
            <a:off x="566928" y="1389888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500" b="0">
                <a:solidFill>
                  <a:srgbClr val="B5C2D8"/>
                </a:solidFill>
                <a:latin typeface="Arial"/>
              </a:rPr>
              <a:t>Each component has one clear role in the defense loop.</a:t>
            </a:r>
            <a:endParaRPr lang="en-US" sz="1500"/>
          </a:p>
        </p:txBody>
      </p:sp>
      <p:sp>
        <p:nvSpPr>
          <p:cNvPr id="51" name="Defender Agent Card"/>
          <p:cNvSpPr/>
          <p:nvPr/>
        </p:nvSpPr>
        <p:spPr>
          <a:xfrm>
            <a:off x="594360" y="1783080"/>
            <a:ext cx="2606040" cy="1005840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00E5FF"/>
            </a:solidFill>
          </a:ln>
        </p:spPr>
        <p:txBody>
          <a:bodyPr/>
          <a:lstStyle/>
          <a:p/>
        </p:txBody>
      </p:sp>
      <p:sp>
        <p:nvSpPr>
          <p:cNvPr id="52" name="Defender Agent Title"/>
          <p:cNvSpPr txBox="1"/>
          <p:nvPr/>
        </p:nvSpPr>
        <p:spPr>
          <a:xfrm>
            <a:off x="758952" y="1947672"/>
            <a:ext cx="22768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600" b="1">
                <a:solidFill>
                  <a:srgbClr val="F3F7FF"/>
                </a:solidFill>
                <a:latin typeface="Arial"/>
              </a:rPr>
              <a:t>Defender Agent</a:t>
            </a:r>
            <a:endParaRPr lang="en-US" sz="1600"/>
          </a:p>
        </p:txBody>
      </p:sp>
      <p:sp>
        <p:nvSpPr>
          <p:cNvPr id="53" name="Defender Agent Body"/>
          <p:cNvSpPr txBox="1"/>
          <p:nvPr/>
        </p:nvSpPr>
        <p:spPr>
          <a:xfrm>
            <a:off x="758952" y="2313432"/>
            <a:ext cx="22768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100" b="0">
                <a:solidFill>
                  <a:srgbClr val="B5C2D8"/>
                </a:solidFill>
                <a:latin typeface="Arial"/>
              </a:rPr>
              <a:t>Classifies risk and decides PASS, BLOCK, REFORMULATE, or ALLOW_WITH_MONITORING.</a:t>
            </a:r>
            <a:endParaRPr lang="en-US" sz="1100"/>
          </a:p>
        </p:txBody>
      </p:sp>
      <p:sp>
        <p:nvSpPr>
          <p:cNvPr id="54" name="Protected Chatbot Card"/>
          <p:cNvSpPr/>
          <p:nvPr/>
        </p:nvSpPr>
        <p:spPr>
          <a:xfrm>
            <a:off x="3520440" y="1783080"/>
            <a:ext cx="2606040" cy="1005840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20FF7D"/>
            </a:solidFill>
          </a:ln>
        </p:spPr>
        <p:txBody>
          <a:bodyPr/>
          <a:lstStyle/>
          <a:p/>
        </p:txBody>
      </p:sp>
      <p:sp>
        <p:nvSpPr>
          <p:cNvPr id="55" name="Protected Chatbot Title"/>
          <p:cNvSpPr txBox="1"/>
          <p:nvPr/>
        </p:nvSpPr>
        <p:spPr>
          <a:xfrm>
            <a:off x="3685032" y="1947672"/>
            <a:ext cx="22768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600" b="1">
                <a:solidFill>
                  <a:srgbClr val="F3F7FF"/>
                </a:solidFill>
                <a:latin typeface="Arial"/>
              </a:rPr>
              <a:t>Protected Chatbot</a:t>
            </a:r>
            <a:endParaRPr lang="en-US" sz="1600"/>
          </a:p>
        </p:txBody>
      </p:sp>
      <p:sp>
        <p:nvSpPr>
          <p:cNvPr id="56" name="Protected Chatbot Body"/>
          <p:cNvSpPr txBox="1"/>
          <p:nvPr/>
        </p:nvSpPr>
        <p:spPr>
          <a:xfrm>
            <a:off x="3685032" y="2313432"/>
            <a:ext cx="22768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100" b="0">
                <a:solidFill>
                  <a:srgbClr val="B5C2D8"/>
                </a:solidFill>
                <a:latin typeface="Arial"/>
              </a:rPr>
              <a:t>Answers safe prompts with Ollama and refuses blocked requests.</a:t>
            </a:r>
            <a:endParaRPr lang="en-US" sz="1100"/>
          </a:p>
        </p:txBody>
      </p:sp>
      <p:sp>
        <p:nvSpPr>
          <p:cNvPr id="57" name="Evaluator Agent Card"/>
          <p:cNvSpPr/>
          <p:nvPr/>
        </p:nvSpPr>
        <p:spPr>
          <a:xfrm>
            <a:off x="6446520" y="1783080"/>
            <a:ext cx="2606040" cy="1005840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F97316"/>
            </a:solidFill>
          </a:ln>
        </p:spPr>
        <p:txBody>
          <a:bodyPr/>
          <a:lstStyle/>
          <a:p/>
        </p:txBody>
      </p:sp>
      <p:sp>
        <p:nvSpPr>
          <p:cNvPr id="58" name="Evaluator Agent Title"/>
          <p:cNvSpPr txBox="1"/>
          <p:nvPr/>
        </p:nvSpPr>
        <p:spPr>
          <a:xfrm>
            <a:off x="6611112" y="1947672"/>
            <a:ext cx="22768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600" b="1">
                <a:solidFill>
                  <a:srgbClr val="F3F7FF"/>
                </a:solidFill>
                <a:latin typeface="Arial"/>
              </a:rPr>
              <a:t>Evaluator Agent</a:t>
            </a:r>
            <a:endParaRPr lang="en-US" sz="1600"/>
          </a:p>
        </p:txBody>
      </p:sp>
      <p:sp>
        <p:nvSpPr>
          <p:cNvPr id="59" name="Evaluator Agent Body"/>
          <p:cNvSpPr txBox="1"/>
          <p:nvPr/>
        </p:nvSpPr>
        <p:spPr>
          <a:xfrm>
            <a:off x="6611112" y="2313432"/>
            <a:ext cx="22768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100" b="0">
                <a:solidFill>
                  <a:srgbClr val="B5C2D8"/>
                </a:solidFill>
                <a:latin typeface="Arial"/>
              </a:rPr>
              <a:t>Checks synthetic leaks, false positives, and defense score.</a:t>
            </a:r>
            <a:endParaRPr lang="en-US" sz="1100"/>
          </a:p>
        </p:txBody>
      </p:sp>
      <p:sp>
        <p:nvSpPr>
          <p:cNvPr id="60" name="Learning Agent Card"/>
          <p:cNvSpPr/>
          <p:nvPr/>
        </p:nvSpPr>
        <p:spPr>
          <a:xfrm>
            <a:off x="9372600" y="1783080"/>
            <a:ext cx="2148840" cy="1005840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8B5CF6"/>
            </a:solidFill>
          </a:ln>
        </p:spPr>
        <p:txBody>
          <a:bodyPr/>
          <a:lstStyle/>
          <a:p/>
        </p:txBody>
      </p:sp>
      <p:sp>
        <p:nvSpPr>
          <p:cNvPr id="61" name="Learning Agent Title"/>
          <p:cNvSpPr txBox="1"/>
          <p:nvPr/>
        </p:nvSpPr>
        <p:spPr>
          <a:xfrm>
            <a:off x="9537192" y="1947672"/>
            <a:ext cx="18196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600" b="1">
                <a:solidFill>
                  <a:srgbClr val="F3F7FF"/>
                </a:solidFill>
                <a:latin typeface="Arial"/>
              </a:rPr>
              <a:t>Learning Agent</a:t>
            </a:r>
            <a:endParaRPr lang="en-US" sz="1600"/>
          </a:p>
        </p:txBody>
      </p:sp>
      <p:sp>
        <p:nvSpPr>
          <p:cNvPr id="62" name="Learning Agent Body"/>
          <p:cNvSpPr txBox="1"/>
          <p:nvPr/>
        </p:nvSpPr>
        <p:spPr>
          <a:xfrm>
            <a:off x="9537192" y="2313432"/>
            <a:ext cx="18196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100" b="0">
                <a:solidFill>
                  <a:srgbClr val="B5C2D8"/>
                </a:solidFill>
                <a:latin typeface="Arial"/>
              </a:rPr>
              <a:t>Stores attack patterns and new rules in SQLite.</a:t>
            </a:r>
            <a:endParaRPr lang="en-US" sz="1100"/>
          </a:p>
        </p:txBody>
      </p:sp>
      <p:pic>
        <p:nvPicPr>
          <p:cNvPr id="63" name="Agents Screenshot"/>
          <p:cNvPicPr/>
          <p:nvPr/>
        </p:nvPicPr>
        <p:blipFill>
          <a:blip r:embed="rId2"/>
          <a:stretch>
            <a:fillRect/>
          </a:stretch>
        </p:blipFill>
        <p:spPr>
          <a:xfrm>
            <a:off x="3354595" y="3154680"/>
            <a:ext cx="5498048" cy="2743200"/>
          </a:xfrm>
          <a:prstGeom prst="rect">
            <a:avLst/>
          </a:prstGeom>
          <a:ln w="12700">
            <a:solidFill>
              <a:srgbClr val="00E5FF">
                <a:alpha val="80000"/>
              </a:srgbClr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</a:ln>
        </p:spPr>
        <p:txBody>
          <a:bodyPr/>
          <a:lstStyle/>
          <a:p/>
        </p:txBody>
      </p:sp>
      <p:sp>
        <p:nvSpPr>
          <p:cNvPr id="3" name="Grid V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4" name="Grid V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5" name="Grid V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6" name="Grid V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7" name="Grid V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8" name="Grid V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9" name="Grid V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0" name="Grid V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1" name="Grid V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2" name="Grid V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3" name="Grid V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4" name="Grid V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5" name="Grid V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6" name="Grid V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7" name="Grid V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8" name="Grid V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9" name="Grid V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0" name="Grid V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1" name="Grid V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2" name="Grid V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3" name="Grid V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4" name="Grid V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5" name="Grid V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6" name="Grid V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7" name="Grid V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8" name="Grid V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9" name="Grid V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0" name="Grid V"/>
          <p:cNvSpPr/>
          <p:nvPr/>
        </p:nvSpPr>
        <p:spPr>
          <a:xfrm>
            <a:off x="1234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1" name="Grid H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2" name="Grid H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3" name="Grid H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4" name="Grid H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5" name="Grid H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6" name="Grid H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7" name="Grid H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8" name="Grid H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9" name="Grid H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0" name="Grid H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1" name="Grid H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2" name="Grid H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3" name="Grid H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4" name="Grid H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5" name="Grid H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6" name="Grid H"/>
          <p:cNvSpPr/>
          <p:nvPr/>
        </p:nvSpPr>
        <p:spPr>
          <a:xfrm>
            <a:off x="0" y="6858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7" name="Pill"/>
          <p:cNvSpPr txBox="1"/>
          <p:nvPr/>
        </p:nvSpPr>
        <p:spPr>
          <a:xfrm>
            <a:off x="566928" y="384048"/>
            <a:ext cx="347472" cy="201168"/>
          </a:xfrm>
          <a:prstGeom prst="roundRect">
            <a:avLst/>
          </a:prstGeom>
          <a:solidFill>
            <a:srgbClr val="0A1024"/>
          </a:solidFill>
          <a:ln w="12700">
            <a:solidFill>
              <a:srgbClr val="00E5FF"/>
            </a:solidFill>
          </a:ln>
        </p:spPr>
        <p:txBody>
          <a:bodyPr wrap="square" anchor="t" lIns="40000" tIns="40000" rIns="40000" bIns="40000"/>
          <a:lstStyle/>
          <a:p>
            <a:r>
              <a:rPr lang="en-US" sz="1000" b="1">
                <a:solidFill>
                  <a:srgbClr val="00E5FF"/>
                </a:solidFill>
                <a:latin typeface="Arial"/>
              </a:rPr>
              <a:t>05</a:t>
            </a:r>
            <a:endParaRPr lang="en-US" sz="1000"/>
          </a:p>
        </p:txBody>
      </p:sp>
      <p:sp>
        <p:nvSpPr>
          <p:cNvPr id="48" name="Slide Title"/>
          <p:cNvSpPr txBox="1"/>
          <p:nvPr/>
        </p:nvSpPr>
        <p:spPr>
          <a:xfrm>
            <a:off x="566928" y="75895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3000" b="1">
                <a:solidFill>
                  <a:srgbClr val="F3F7FF"/>
                </a:solidFill>
                <a:latin typeface="Arial"/>
              </a:rPr>
              <a:t>LLM Evaluation and Local Configuration</a:t>
            </a:r>
            <a:endParaRPr lang="en-US" sz="3000"/>
          </a:p>
        </p:txBody>
      </p:sp>
      <p:sp>
        <p:nvSpPr>
          <p:cNvPr id="49" name="Title Underline"/>
          <p:cNvSpPr/>
          <p:nvPr/>
        </p:nvSpPr>
        <p:spPr>
          <a:xfrm>
            <a:off x="566928" y="1216152"/>
            <a:ext cx="3474720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</a:ln>
        </p:spPr>
        <p:txBody>
          <a:bodyPr/>
          <a:lstStyle/>
          <a:p/>
        </p:txBody>
      </p:sp>
      <p:sp>
        <p:nvSpPr>
          <p:cNvPr id="50" name="Subtitle"/>
          <p:cNvSpPr txBox="1"/>
          <p:nvPr/>
        </p:nvSpPr>
        <p:spPr>
          <a:xfrm>
            <a:off x="566928" y="1389888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500" b="0">
                <a:solidFill>
                  <a:srgbClr val="B5C2D8"/>
                </a:solidFill>
                <a:latin typeface="Arial"/>
              </a:rPr>
              <a:t>The model runs locally, while the defense pipeline controls and evaluates interactions.</a:t>
            </a:r>
            <a:endParaRPr lang="en-US" sz="1500"/>
          </a:p>
        </p:txBody>
      </p:sp>
      <p:sp>
        <p:nvSpPr>
          <p:cNvPr id="51" name="Text"/>
          <p:cNvSpPr txBox="1"/>
          <p:nvPr/>
        </p:nvSpPr>
        <p:spPr>
          <a:xfrm>
            <a:off x="685800" y="1828800"/>
            <a:ext cx="4937760" cy="1965960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00E5FF"/>
            </a:solidFill>
          </a:ln>
        </p:spPr>
        <p:txBody>
          <a:bodyPr wrap="square" anchor="t" lIns="91440" tIns="91440" rIns="91440" bIns="91440"/>
          <a:lstStyle/>
          <a:p>
            <a:r>
              <a:rPr lang="en-US" sz="1700" b="0">
                <a:solidFill>
                  <a:srgbClr val="F3F7FF"/>
                </a:solidFill>
                <a:latin typeface="Arial"/>
              </a:rPr>
              <a:t>Local Configuration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/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• Runtime: local machine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• LLM backend: Ollama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• Model: qwen2.5:14b-instruct-q4_K_M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• Frontend: Streamlit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• Database: data/defense_lab.db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• Evaluation history: SQLite tables</a:t>
            </a:r>
            <a:endParaRPr lang="en-US" sz="1700"/>
          </a:p>
        </p:txBody>
      </p:sp>
      <p:sp>
        <p:nvSpPr>
          <p:cNvPr id="52" name="Text"/>
          <p:cNvSpPr txBox="1"/>
          <p:nvPr/>
        </p:nvSpPr>
        <p:spPr>
          <a:xfrm>
            <a:off x="685800" y="4160520"/>
            <a:ext cx="4937760" cy="1600200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20FF7D"/>
            </a:solidFill>
          </a:ln>
        </p:spPr>
        <p:txBody>
          <a:bodyPr wrap="square" anchor="t" lIns="91440" tIns="91440" rIns="91440" bIns="91440"/>
          <a:lstStyle/>
          <a:p>
            <a:r>
              <a:rPr lang="en-US" sz="1700" b="0">
                <a:solidFill>
                  <a:srgbClr val="F3F7FF"/>
                </a:solidFill>
                <a:latin typeface="Arial"/>
              </a:rPr>
              <a:t>Evaluation Metrics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/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• Defense score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• Attack success rate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• Defense success rate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• False positive rate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• Learned pattern count</a:t>
            </a:r>
            <a:endParaRPr lang="en-US" sz="1700"/>
          </a:p>
        </p:txBody>
      </p:sp>
      <p:pic>
        <p:nvPicPr>
          <p:cNvPr id="53" name="Evaluation Metrics Screenshot"/>
          <p:cNvPicPr/>
          <p:nvPr/>
        </p:nvPicPr>
        <p:blipFill>
          <a:blip r:embed="rId2"/>
          <a:stretch>
            <a:fillRect/>
          </a:stretch>
        </p:blipFill>
        <p:spPr>
          <a:xfrm>
            <a:off x="6069796" y="1737360"/>
            <a:ext cx="5096846" cy="4343400"/>
          </a:xfrm>
          <a:prstGeom prst="rect">
            <a:avLst/>
          </a:prstGeom>
          <a:ln w="12700">
            <a:solidFill>
              <a:srgbClr val="00E5FF">
                <a:alpha val="80000"/>
              </a:srgbClr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</a:ln>
        </p:spPr>
        <p:txBody>
          <a:bodyPr/>
          <a:lstStyle/>
          <a:p/>
        </p:txBody>
      </p:sp>
      <p:sp>
        <p:nvSpPr>
          <p:cNvPr id="3" name="Grid V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4" name="Grid V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5" name="Grid V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6" name="Grid V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7" name="Grid V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8" name="Grid V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9" name="Grid V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0" name="Grid V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1" name="Grid V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2" name="Grid V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3" name="Grid V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4" name="Grid V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5" name="Grid V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6" name="Grid V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7" name="Grid V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8" name="Grid V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9" name="Grid V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0" name="Grid V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1" name="Grid V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2" name="Grid V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3" name="Grid V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4" name="Grid V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5" name="Grid V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6" name="Grid V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7" name="Grid V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8" name="Grid V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9" name="Grid V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0" name="Grid V"/>
          <p:cNvSpPr/>
          <p:nvPr/>
        </p:nvSpPr>
        <p:spPr>
          <a:xfrm>
            <a:off x="1234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1" name="Grid H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2" name="Grid H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3" name="Grid H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4" name="Grid H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5" name="Grid H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6" name="Grid H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7" name="Grid H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8" name="Grid H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9" name="Grid H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0" name="Grid H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1" name="Grid H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2" name="Grid H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3" name="Grid H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4" name="Grid H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5" name="Grid H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6" name="Grid H"/>
          <p:cNvSpPr/>
          <p:nvPr/>
        </p:nvSpPr>
        <p:spPr>
          <a:xfrm>
            <a:off x="0" y="6858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7" name="Pill"/>
          <p:cNvSpPr txBox="1"/>
          <p:nvPr/>
        </p:nvSpPr>
        <p:spPr>
          <a:xfrm>
            <a:off x="566928" y="384048"/>
            <a:ext cx="347472" cy="201168"/>
          </a:xfrm>
          <a:prstGeom prst="roundRect">
            <a:avLst/>
          </a:prstGeom>
          <a:solidFill>
            <a:srgbClr val="0A1024"/>
          </a:solidFill>
          <a:ln w="12700">
            <a:solidFill>
              <a:srgbClr val="00E5FF"/>
            </a:solidFill>
          </a:ln>
        </p:spPr>
        <p:txBody>
          <a:bodyPr wrap="square" anchor="t" lIns="40000" tIns="40000" rIns="40000" bIns="40000"/>
          <a:lstStyle/>
          <a:p>
            <a:r>
              <a:rPr lang="en-US" sz="1000" b="1">
                <a:solidFill>
                  <a:srgbClr val="00E5FF"/>
                </a:solidFill>
                <a:latin typeface="Arial"/>
              </a:rPr>
              <a:t>06</a:t>
            </a:r>
            <a:endParaRPr lang="en-US" sz="1000"/>
          </a:p>
        </p:txBody>
      </p:sp>
      <p:sp>
        <p:nvSpPr>
          <p:cNvPr id="48" name="Slide Title"/>
          <p:cNvSpPr txBox="1"/>
          <p:nvPr/>
        </p:nvSpPr>
        <p:spPr>
          <a:xfrm>
            <a:off x="566928" y="75895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3000" b="1">
                <a:solidFill>
                  <a:srgbClr val="F3F7FF"/>
                </a:solidFill>
                <a:latin typeface="Arial"/>
              </a:rPr>
              <a:t>Results of Training and Adaptation</a:t>
            </a:r>
            <a:endParaRPr lang="en-US" sz="3000"/>
          </a:p>
        </p:txBody>
      </p:sp>
      <p:sp>
        <p:nvSpPr>
          <p:cNvPr id="49" name="Title Underline"/>
          <p:cNvSpPr/>
          <p:nvPr/>
        </p:nvSpPr>
        <p:spPr>
          <a:xfrm>
            <a:off x="566928" y="1216152"/>
            <a:ext cx="3474720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</a:ln>
        </p:spPr>
        <p:txBody>
          <a:bodyPr/>
          <a:lstStyle/>
          <a:p/>
        </p:txBody>
      </p:sp>
      <p:sp>
        <p:nvSpPr>
          <p:cNvPr id="50" name="Subtitle"/>
          <p:cNvSpPr txBox="1"/>
          <p:nvPr/>
        </p:nvSpPr>
        <p:spPr>
          <a:xfrm>
            <a:off x="566928" y="1389888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500" b="0">
                <a:solidFill>
                  <a:srgbClr val="B5C2D8"/>
                </a:solidFill>
                <a:latin typeface="Arial"/>
              </a:rPr>
              <a:t>The system learns from a controlled synthetic breach and blocks repeated variants.</a:t>
            </a:r>
            <a:endParaRPr lang="en-US" sz="1500"/>
          </a:p>
        </p:txBody>
      </p:sp>
      <p:sp>
        <p:nvSpPr>
          <p:cNvPr id="51" name="Text"/>
          <p:cNvSpPr txBox="1"/>
          <p:nvPr/>
        </p:nvSpPr>
        <p:spPr>
          <a:xfrm>
            <a:off x="685800" y="1783080"/>
            <a:ext cx="4526280" cy="3063240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00E5FF"/>
            </a:solidFill>
          </a:ln>
        </p:spPr>
        <p:txBody>
          <a:bodyPr wrap="square" anchor="t" lIns="91440" tIns="91440" rIns="91440" bIns="91440"/>
          <a:lstStyle/>
          <a:p>
            <a:r>
              <a:rPr lang="en-US" sz="1700" b="0">
                <a:solidFill>
                  <a:srgbClr val="F3F7FF"/>
                </a:solidFill>
                <a:latin typeface="Arial"/>
              </a:rPr>
              <a:t>Observed Result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/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1. Start with fresh memory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2. Run a controlled attack demo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3. System allows monitored synthetic output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4. Evaluator detects attack success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5. Learner stores the pattern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6. Repeat attack is blocked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7. Charts and tables update from SQLite</a:t>
            </a:r>
            <a:endParaRPr lang="en-US" sz="1700"/>
          </a:p>
        </p:txBody>
      </p:sp>
      <p:pic>
        <p:nvPicPr>
          <p:cNvPr id="52" name="First Attempt"/>
          <p:cNvPicPr/>
          <p:nvPr/>
        </p:nvPicPr>
        <p:blipFill>
          <a:blip r:embed="rId2"/>
          <a:stretch>
            <a:fillRect/>
          </a:stretch>
        </p:blipFill>
        <p:spPr>
          <a:xfrm>
            <a:off x="5537240" y="1719072"/>
            <a:ext cx="2806110" cy="2121408"/>
          </a:xfrm>
          <a:prstGeom prst="rect">
            <a:avLst/>
          </a:prstGeom>
          <a:ln w="12700">
            <a:solidFill>
              <a:srgbClr val="00E5FF">
                <a:alpha val="80000"/>
              </a:srgbClr>
            </a:solidFill>
          </a:ln>
        </p:spPr>
      </p:pic>
      <p:pic>
        <p:nvPicPr>
          <p:cNvPr id="53" name="Evidence"/>
          <p:cNvPicPr/>
          <p:nvPr/>
        </p:nvPicPr>
        <p:blipFill>
          <a:blip r:embed="rId3"/>
          <a:stretch>
            <a:fillRect/>
          </a:stretch>
        </p:blipFill>
        <p:spPr>
          <a:xfrm>
            <a:off x="8570504" y="1719072"/>
            <a:ext cx="2591743" cy="2121408"/>
          </a:xfrm>
          <a:prstGeom prst="rect">
            <a:avLst/>
          </a:prstGeom>
          <a:ln w="12700">
            <a:solidFill>
              <a:srgbClr val="00E5FF">
                <a:alpha val="80000"/>
              </a:srgbClr>
            </a:solidFill>
          </a:ln>
        </p:spPr>
      </p:pic>
      <p:pic>
        <p:nvPicPr>
          <p:cNvPr id="54" name="Memory Results"/>
          <p:cNvPicPr/>
          <p:nvPr/>
        </p:nvPicPr>
        <p:blipFill>
          <a:blip r:embed="rId4"/>
          <a:stretch>
            <a:fillRect/>
          </a:stretch>
        </p:blipFill>
        <p:spPr>
          <a:xfrm>
            <a:off x="7433072" y="4041648"/>
            <a:ext cx="1940527" cy="1828800"/>
          </a:xfrm>
          <a:prstGeom prst="rect">
            <a:avLst/>
          </a:prstGeom>
          <a:ln w="12700">
            <a:solidFill>
              <a:srgbClr val="00E5FF">
                <a:alpha val="80000"/>
              </a:srgbClr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</a:ln>
        </p:spPr>
        <p:txBody>
          <a:bodyPr/>
          <a:lstStyle/>
          <a:p/>
        </p:txBody>
      </p:sp>
      <p:sp>
        <p:nvSpPr>
          <p:cNvPr id="3" name="Grid V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4" name="Grid V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5" name="Grid V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6" name="Grid V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7" name="Grid V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8" name="Grid V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9" name="Grid V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0" name="Grid V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1" name="Grid V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2" name="Grid V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3" name="Grid V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4" name="Grid V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5" name="Grid V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6" name="Grid V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7" name="Grid V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8" name="Grid V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9" name="Grid V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0" name="Grid V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1" name="Grid V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2" name="Grid V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3" name="Grid V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4" name="Grid V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5" name="Grid V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6" name="Grid V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7" name="Grid V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8" name="Grid V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9" name="Grid V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0" name="Grid V"/>
          <p:cNvSpPr/>
          <p:nvPr/>
        </p:nvSpPr>
        <p:spPr>
          <a:xfrm>
            <a:off x="1234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1" name="Grid H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2" name="Grid H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3" name="Grid H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4" name="Grid H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5" name="Grid H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6" name="Grid H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7" name="Grid H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8" name="Grid H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9" name="Grid H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0" name="Grid H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1" name="Grid H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2" name="Grid H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3" name="Grid H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4" name="Grid H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5" name="Grid H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6" name="Grid H"/>
          <p:cNvSpPr/>
          <p:nvPr/>
        </p:nvSpPr>
        <p:spPr>
          <a:xfrm>
            <a:off x="0" y="6858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7" name="Pill"/>
          <p:cNvSpPr txBox="1"/>
          <p:nvPr/>
        </p:nvSpPr>
        <p:spPr>
          <a:xfrm>
            <a:off x="566928" y="384048"/>
            <a:ext cx="347472" cy="201168"/>
          </a:xfrm>
          <a:prstGeom prst="roundRect">
            <a:avLst/>
          </a:prstGeom>
          <a:solidFill>
            <a:srgbClr val="0A1024"/>
          </a:solidFill>
          <a:ln w="12700">
            <a:solidFill>
              <a:srgbClr val="00E5FF"/>
            </a:solidFill>
          </a:ln>
        </p:spPr>
        <p:txBody>
          <a:bodyPr wrap="square" anchor="t" lIns="40000" tIns="40000" rIns="40000" bIns="40000"/>
          <a:lstStyle/>
          <a:p>
            <a:r>
              <a:rPr lang="en-US" sz="1000" b="1">
                <a:solidFill>
                  <a:srgbClr val="00E5FF"/>
                </a:solidFill>
                <a:latin typeface="Arial"/>
              </a:rPr>
              <a:t>07</a:t>
            </a:r>
            <a:endParaRPr lang="en-US" sz="1000"/>
          </a:p>
        </p:txBody>
      </p:sp>
      <p:sp>
        <p:nvSpPr>
          <p:cNvPr id="48" name="Slide Title"/>
          <p:cNvSpPr txBox="1"/>
          <p:nvPr/>
        </p:nvSpPr>
        <p:spPr>
          <a:xfrm>
            <a:off x="566928" y="75895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3000" b="1">
                <a:solidFill>
                  <a:srgbClr val="F3F7FF"/>
                </a:solidFill>
                <a:latin typeface="Arial"/>
              </a:rPr>
              <a:t>Limitations and Future Work</a:t>
            </a:r>
            <a:endParaRPr lang="en-US" sz="3000"/>
          </a:p>
        </p:txBody>
      </p:sp>
      <p:sp>
        <p:nvSpPr>
          <p:cNvPr id="49" name="Title Underline"/>
          <p:cNvSpPr/>
          <p:nvPr/>
        </p:nvSpPr>
        <p:spPr>
          <a:xfrm>
            <a:off x="566928" y="1216152"/>
            <a:ext cx="3474720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</a:ln>
        </p:spPr>
        <p:txBody>
          <a:bodyPr/>
          <a:lstStyle/>
          <a:p/>
        </p:txBody>
      </p:sp>
      <p:sp>
        <p:nvSpPr>
          <p:cNvPr id="50" name="Subtitle"/>
          <p:cNvSpPr txBox="1"/>
          <p:nvPr/>
        </p:nvSpPr>
        <p:spPr>
          <a:xfrm>
            <a:off x="566928" y="1389888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500" b="0">
                <a:solidFill>
                  <a:srgbClr val="B5C2D8"/>
                </a:solidFill>
                <a:latin typeface="Arial"/>
              </a:rPr>
              <a:t>What the current prototype does well, and what should come next.</a:t>
            </a:r>
            <a:endParaRPr lang="en-US" sz="1500"/>
          </a:p>
        </p:txBody>
      </p:sp>
      <p:sp>
        <p:nvSpPr>
          <p:cNvPr id="51" name="Text"/>
          <p:cNvSpPr txBox="1"/>
          <p:nvPr/>
        </p:nvSpPr>
        <p:spPr>
          <a:xfrm>
            <a:off x="685800" y="1828800"/>
            <a:ext cx="4983480" cy="3520440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F97316"/>
            </a:solidFill>
          </a:ln>
        </p:spPr>
        <p:txBody>
          <a:bodyPr wrap="square" anchor="t" lIns="91440" tIns="91440" rIns="91440" bIns="91440"/>
          <a:lstStyle/>
          <a:p>
            <a:r>
              <a:rPr lang="en-US" sz="1700" b="0">
                <a:solidFill>
                  <a:srgbClr val="F3F7FF"/>
                </a:solidFill>
                <a:latin typeface="Arial"/>
              </a:rPr>
              <a:t>Limitations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/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• Demonstration uses synthetic data only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• Defense rules are simplified for a lab prototype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• Prompt classification can still miss new variants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• Performance depends on local hardware and model speed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• More benchmark testing is needed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• Current UI is focused on demonstration rather than deployment</a:t>
            </a:r>
            <a:endParaRPr lang="en-US" sz="1700"/>
          </a:p>
        </p:txBody>
      </p:sp>
      <p:sp>
        <p:nvSpPr>
          <p:cNvPr id="52" name="Text"/>
          <p:cNvSpPr txBox="1"/>
          <p:nvPr/>
        </p:nvSpPr>
        <p:spPr>
          <a:xfrm>
            <a:off x="6172200" y="1828800"/>
            <a:ext cx="4983480" cy="3520440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20FF7D"/>
            </a:solidFill>
          </a:ln>
        </p:spPr>
        <p:txBody>
          <a:bodyPr wrap="square" anchor="t" lIns="91440" tIns="91440" rIns="91440" bIns="91440"/>
          <a:lstStyle/>
          <a:p>
            <a:r>
              <a:rPr lang="en-US" sz="1700" b="0">
                <a:solidFill>
                  <a:srgbClr val="F3F7FF"/>
                </a:solidFill>
                <a:latin typeface="Arial"/>
              </a:rPr>
              <a:t>Future Work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/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• Add larger benchmark datasets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• Improve semantic memory retrieval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• Compare several local and cloud LLMs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• Add user roles and access control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• Add automated test suites for attacks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• Deploy as a full web service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• Build stronger reporting and export tools</a:t>
            </a:r>
            <a:endParaRPr lang="en-US"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</a:ln>
        </p:spPr>
        <p:txBody>
          <a:bodyPr/>
          <a:lstStyle/>
          <a:p/>
        </p:txBody>
      </p:sp>
      <p:sp>
        <p:nvSpPr>
          <p:cNvPr id="3" name="Grid V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4" name="Grid V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5" name="Grid V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6" name="Grid V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7" name="Grid V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8" name="Grid V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9" name="Grid V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0" name="Grid V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1" name="Grid V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2" name="Grid V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3" name="Grid V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4" name="Grid V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5" name="Grid V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6" name="Grid V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7" name="Grid V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8" name="Grid V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9" name="Grid V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0" name="Grid V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1" name="Grid V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2" name="Grid V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3" name="Grid V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4" name="Grid V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5" name="Grid V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6" name="Grid V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7" name="Grid V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8" name="Grid V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9" name="Grid V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0" name="Grid V"/>
          <p:cNvSpPr/>
          <p:nvPr/>
        </p:nvSpPr>
        <p:spPr>
          <a:xfrm>
            <a:off x="1234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1" name="Grid H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2" name="Grid H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3" name="Grid H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4" name="Grid H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5" name="Grid H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6" name="Grid H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7" name="Grid H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8" name="Grid H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9" name="Grid H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0" name="Grid H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1" name="Grid H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2" name="Grid H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3" name="Grid H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4" name="Grid H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5" name="Grid H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6" name="Grid H"/>
          <p:cNvSpPr/>
          <p:nvPr/>
        </p:nvSpPr>
        <p:spPr>
          <a:xfrm>
            <a:off x="0" y="6858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7" name="Pill"/>
          <p:cNvSpPr txBox="1"/>
          <p:nvPr/>
        </p:nvSpPr>
        <p:spPr>
          <a:xfrm>
            <a:off x="566928" y="384048"/>
            <a:ext cx="347472" cy="201168"/>
          </a:xfrm>
          <a:prstGeom prst="roundRect">
            <a:avLst/>
          </a:prstGeom>
          <a:solidFill>
            <a:srgbClr val="0A1024"/>
          </a:solidFill>
          <a:ln w="12700">
            <a:solidFill>
              <a:srgbClr val="00E5FF"/>
            </a:solidFill>
          </a:ln>
        </p:spPr>
        <p:txBody>
          <a:bodyPr wrap="square" anchor="t" lIns="40000" tIns="40000" rIns="40000" bIns="40000"/>
          <a:lstStyle/>
          <a:p>
            <a:r>
              <a:rPr lang="en-US" sz="1000" b="1">
                <a:solidFill>
                  <a:srgbClr val="00E5FF"/>
                </a:solidFill>
                <a:latin typeface="Arial"/>
              </a:rPr>
              <a:t>08</a:t>
            </a:r>
            <a:endParaRPr lang="en-US" sz="1000"/>
          </a:p>
        </p:txBody>
      </p:sp>
      <p:sp>
        <p:nvSpPr>
          <p:cNvPr id="48" name="Slide Title"/>
          <p:cNvSpPr txBox="1"/>
          <p:nvPr/>
        </p:nvSpPr>
        <p:spPr>
          <a:xfrm>
            <a:off x="566928" y="75895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3000" b="1">
                <a:solidFill>
                  <a:srgbClr val="F3F7FF"/>
                </a:solidFill>
                <a:latin typeface="Arial"/>
              </a:rPr>
              <a:t>Conclusion</a:t>
            </a:r>
            <a:endParaRPr lang="en-US" sz="3000"/>
          </a:p>
        </p:txBody>
      </p:sp>
      <p:sp>
        <p:nvSpPr>
          <p:cNvPr id="49" name="Title Underline"/>
          <p:cNvSpPr/>
          <p:nvPr/>
        </p:nvSpPr>
        <p:spPr>
          <a:xfrm>
            <a:off x="566928" y="1216152"/>
            <a:ext cx="2011680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</a:ln>
        </p:spPr>
        <p:txBody>
          <a:bodyPr/>
          <a:lstStyle/>
          <a:p/>
        </p:txBody>
      </p:sp>
      <p:sp>
        <p:nvSpPr>
          <p:cNvPr id="50" name="Subtitle"/>
          <p:cNvSpPr txBox="1"/>
          <p:nvPr/>
        </p:nvSpPr>
        <p:spPr>
          <a:xfrm>
            <a:off x="566928" y="1389888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500" b="0">
                <a:solidFill>
                  <a:srgbClr val="B5C2D8"/>
                </a:solidFill>
                <a:latin typeface="Arial"/>
              </a:rPr>
              <a:t>The project demonstrates adaptive, observable, memory-driven LLM defense.</a:t>
            </a:r>
            <a:endParaRPr lang="en-US" sz="1500"/>
          </a:p>
        </p:txBody>
      </p:sp>
      <p:sp>
        <p:nvSpPr>
          <p:cNvPr id="51" name="Text"/>
          <p:cNvSpPr txBox="1"/>
          <p:nvPr/>
        </p:nvSpPr>
        <p:spPr>
          <a:xfrm>
            <a:off x="822960" y="1920240"/>
            <a:ext cx="5166360" cy="3246120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00E5FF"/>
            </a:solidFill>
          </a:ln>
        </p:spPr>
        <p:txBody>
          <a:bodyPr wrap="square" anchor="t" lIns="91440" tIns="91440" rIns="91440" bIns="91440"/>
          <a:lstStyle/>
          <a:p>
            <a:r>
              <a:rPr lang="en-US" sz="1900" b="0">
                <a:solidFill>
                  <a:srgbClr val="F3F7FF"/>
                </a:solidFill>
                <a:latin typeface="Arial"/>
              </a:rPr>
              <a:t>Conclusion</a:t>
            </a:r>
            <a:endParaRPr lang="en-US" sz="1900"/>
          </a:p>
          <a:p>
            <a:r>
              <a:rPr lang="en-US" sz="1900" b="0">
                <a:solidFill>
                  <a:srgbClr val="F3F7FF"/>
                </a:solidFill>
                <a:latin typeface="Arial"/>
              </a:rPr>
              <a:t/>
            </a:r>
            <a:endParaRPr lang="en-US" sz="1900"/>
          </a:p>
          <a:p>
            <a:r>
              <a:rPr lang="en-US" sz="1900" b="0">
                <a:solidFill>
                  <a:srgbClr val="F3F7FF"/>
                </a:solidFill>
                <a:latin typeface="Arial"/>
              </a:rPr>
              <a:t>The system shows that LLM security can move beyond static blocking.</a:t>
            </a:r>
            <a:endParaRPr lang="en-US" sz="1900"/>
          </a:p>
          <a:p>
            <a:r>
              <a:rPr lang="en-US" sz="1900" b="0">
                <a:solidFill>
                  <a:srgbClr val="F3F7FF"/>
                </a:solidFill>
                <a:latin typeface="Arial"/>
              </a:rPr>
              <a:t/>
            </a:r>
            <a:endParaRPr lang="en-US" sz="1900"/>
          </a:p>
          <a:p>
            <a:r>
              <a:rPr lang="en-US" sz="1900" b="0">
                <a:solidFill>
                  <a:srgbClr val="F3F7FF"/>
                </a:solidFill>
                <a:latin typeface="Arial"/>
              </a:rPr>
              <a:t>By combining a Defender Agent, Protected Chatbot, Evaluator Agent, Learning Agent, and SQLite memory, the application can detect risky prompts, evaluate outcomes, learn patterns, and improve future decisions.</a:t>
            </a:r>
            <a:endParaRPr lang="en-US" sz="1900"/>
          </a:p>
        </p:txBody>
      </p:sp>
      <p:sp>
        <p:nvSpPr>
          <p:cNvPr id="52" name="Text"/>
          <p:cNvSpPr txBox="1"/>
          <p:nvPr/>
        </p:nvSpPr>
        <p:spPr>
          <a:xfrm>
            <a:off x="6446520" y="1920240"/>
            <a:ext cx="4343400" cy="1965960"/>
          </a:xfrm>
          <a:prstGeom prst="roundRect">
            <a:avLst/>
          </a:prstGeom>
          <a:solidFill>
            <a:srgbClr val="0A1024"/>
          </a:solidFill>
          <a:ln w="12700">
            <a:solidFill>
              <a:srgbClr val="20FF7D"/>
            </a:solidFill>
          </a:ln>
        </p:spPr>
        <p:txBody>
          <a:bodyPr wrap="square" anchor="t" lIns="91440" tIns="91440" rIns="91440" bIns="91440"/>
          <a:lstStyle/>
          <a:p>
            <a:r>
              <a:rPr lang="en-US" sz="2500" b="1">
                <a:solidFill>
                  <a:srgbClr val="20FF7D"/>
                </a:solidFill>
                <a:latin typeface="Arial"/>
              </a:rPr>
              <a:t>Final Message</a:t>
            </a:r>
            <a:endParaRPr lang="en-US" sz="2500"/>
          </a:p>
          <a:p>
            <a:r>
              <a:rPr lang="en-US" sz="2500" b="1">
                <a:solidFill>
                  <a:srgbClr val="20FF7D"/>
                </a:solidFill>
                <a:latin typeface="Arial"/>
              </a:rPr>
              <a:t/>
            </a:r>
            <a:endParaRPr lang="en-US" sz="2500"/>
          </a:p>
          <a:p>
            <a:r>
              <a:rPr lang="en-US" sz="2500" b="1">
                <a:solidFill>
                  <a:srgbClr val="20FF7D"/>
                </a:solidFill>
                <a:latin typeface="Arial"/>
              </a:rPr>
              <a:t>Adaptive defense is essential for safer AI applications.</a:t>
            </a:r>
            <a:endParaRPr lang="en-US" sz="2500"/>
          </a:p>
        </p:txBody>
      </p:sp>
      <p:sp>
        <p:nvSpPr>
          <p:cNvPr id="53" name="Text"/>
          <p:cNvSpPr txBox="1"/>
          <p:nvPr/>
        </p:nvSpPr>
        <p:spPr>
          <a:xfrm>
            <a:off x="6446520" y="4251960"/>
            <a:ext cx="4343400" cy="914400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00E5FF"/>
            </a:solidFill>
          </a:ln>
        </p:spPr>
        <p:txBody>
          <a:bodyPr wrap="square" anchor="t" lIns="91440" tIns="91440" rIns="91440" bIns="91440"/>
          <a:lstStyle/>
          <a:p>
            <a:r>
              <a:rPr lang="en-US" sz="1800" b="0">
                <a:solidFill>
                  <a:srgbClr val="F3F7FF"/>
                </a:solidFill>
                <a:latin typeface="Arial"/>
              </a:rPr>
              <a:t>Ready for live demonstration with Streamlit, Ollama, SQLite, and real project screenshots.</a:t>
            </a:r>
            <a:endParaRPr 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</a:ln>
        </p:spPr>
        <p:txBody>
          <a:bodyPr/>
          <a:lstStyle/>
          <a:p/>
        </p:txBody>
      </p:sp>
      <p:sp>
        <p:nvSpPr>
          <p:cNvPr id="3" name="Grid V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4" name="Grid V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5" name="Grid V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6" name="Grid V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7" name="Grid V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8" name="Grid V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9" name="Grid V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0" name="Grid V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1" name="Grid V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2" name="Grid V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3" name="Grid V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4" name="Grid V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5" name="Grid V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6" name="Grid V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7" name="Grid V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8" name="Grid V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9" name="Grid V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0" name="Grid V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1" name="Grid V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2" name="Grid V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3" name="Grid V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4" name="Grid V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5" name="Grid V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6" name="Grid V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7" name="Grid V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8" name="Grid V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9" name="Grid V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0" name="Grid V"/>
          <p:cNvSpPr/>
          <p:nvPr/>
        </p:nvSpPr>
        <p:spPr>
          <a:xfrm>
            <a:off x="1234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1" name="Grid H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2" name="Grid H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3" name="Grid H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4" name="Grid H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5" name="Grid H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6" name="Grid H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7" name="Grid H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8" name="Grid H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9" name="Grid H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0" name="Grid H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1" name="Grid H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2" name="Grid H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3" name="Grid H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4" name="Grid H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5" name="Grid H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6" name="Grid H"/>
          <p:cNvSpPr/>
          <p:nvPr/>
        </p:nvSpPr>
        <p:spPr>
          <a:xfrm>
            <a:off x="0" y="6858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7" name="Pill"/>
          <p:cNvSpPr txBox="1"/>
          <p:nvPr/>
        </p:nvSpPr>
        <p:spPr>
          <a:xfrm>
            <a:off x="566928" y="384048"/>
            <a:ext cx="347472" cy="201168"/>
          </a:xfrm>
          <a:prstGeom prst="roundRect">
            <a:avLst/>
          </a:prstGeom>
          <a:solidFill>
            <a:srgbClr val="0A1024"/>
          </a:solidFill>
          <a:ln w="12700">
            <a:solidFill>
              <a:srgbClr val="00E5FF"/>
            </a:solidFill>
          </a:ln>
        </p:spPr>
        <p:txBody>
          <a:bodyPr wrap="square" anchor="t" lIns="40000" tIns="40000" rIns="40000" bIns="40000"/>
          <a:lstStyle/>
          <a:p>
            <a:r>
              <a:rPr lang="en-US" sz="1000" b="1">
                <a:solidFill>
                  <a:srgbClr val="00E5FF"/>
                </a:solidFill>
                <a:latin typeface="Arial"/>
              </a:rPr>
              <a:t>09</a:t>
            </a:r>
            <a:endParaRPr lang="en-US" sz="1000"/>
          </a:p>
        </p:txBody>
      </p:sp>
      <p:sp>
        <p:nvSpPr>
          <p:cNvPr id="48" name="Slide Title"/>
          <p:cNvSpPr txBox="1"/>
          <p:nvPr/>
        </p:nvSpPr>
        <p:spPr>
          <a:xfrm>
            <a:off x="566928" y="75895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3000" b="1">
                <a:solidFill>
                  <a:srgbClr val="F3F7FF"/>
                </a:solidFill>
                <a:latin typeface="Arial"/>
              </a:rPr>
              <a:t>References</a:t>
            </a:r>
            <a:endParaRPr lang="en-US" sz="3000"/>
          </a:p>
        </p:txBody>
      </p:sp>
      <p:sp>
        <p:nvSpPr>
          <p:cNvPr id="49" name="Title Underline"/>
          <p:cNvSpPr/>
          <p:nvPr/>
        </p:nvSpPr>
        <p:spPr>
          <a:xfrm>
            <a:off x="566928" y="1216152"/>
            <a:ext cx="2011680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</a:ln>
        </p:spPr>
        <p:txBody>
          <a:bodyPr/>
          <a:lstStyle/>
          <a:p/>
        </p:txBody>
      </p:sp>
      <p:sp>
        <p:nvSpPr>
          <p:cNvPr id="50" name="Subtitle"/>
          <p:cNvSpPr txBox="1"/>
          <p:nvPr/>
        </p:nvSpPr>
        <p:spPr>
          <a:xfrm>
            <a:off x="566928" y="1389888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500" b="0">
                <a:solidFill>
                  <a:srgbClr val="B5C2D8"/>
                </a:solidFill>
                <a:latin typeface="Arial"/>
              </a:rPr>
              <a:t>Main documentation, security guidance, and project resources.</a:t>
            </a:r>
            <a:endParaRPr lang="en-US" sz="1500"/>
          </a:p>
        </p:txBody>
      </p:sp>
      <p:sp>
        <p:nvSpPr>
          <p:cNvPr id="51" name="Text"/>
          <p:cNvSpPr txBox="1"/>
          <p:nvPr/>
        </p:nvSpPr>
        <p:spPr>
          <a:xfrm>
            <a:off x="731520" y="1828800"/>
            <a:ext cx="5166360" cy="3566160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00E5FF"/>
            </a:solidFill>
          </a:ln>
        </p:spPr>
        <p:txBody>
          <a:bodyPr wrap="square" anchor="t" lIns="91440" tIns="91440" rIns="91440" bIns="91440"/>
          <a:lstStyle/>
          <a:p>
            <a:r>
              <a:rPr lang="en-US" sz="1800" b="0">
                <a:solidFill>
                  <a:srgbClr val="F3F7FF"/>
                </a:solidFill>
                <a:latin typeface="Arial"/>
              </a:rPr>
              <a:t>Technical References</a:t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/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>• Ollama documentation</a:t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>• Streamlit documentation</a:t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>• SQLite documentation</a:t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>• Plotly documentation</a:t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>• Python documentation</a:t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>• Project source code and screenshots</a:t>
            </a:r>
            <a:endParaRPr lang="en-US" sz="1800"/>
          </a:p>
        </p:txBody>
      </p:sp>
      <p:sp>
        <p:nvSpPr>
          <p:cNvPr id="52" name="Text"/>
          <p:cNvSpPr txBox="1"/>
          <p:nvPr/>
        </p:nvSpPr>
        <p:spPr>
          <a:xfrm>
            <a:off x="6309360" y="1828800"/>
            <a:ext cx="4892040" cy="3566160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00E5FF"/>
            </a:solidFill>
          </a:ln>
        </p:spPr>
        <p:txBody>
          <a:bodyPr wrap="square" anchor="t" lIns="91440" tIns="91440" rIns="91440" bIns="91440"/>
          <a:lstStyle/>
          <a:p>
            <a:r>
              <a:rPr lang="en-US" sz="1800" b="0">
                <a:solidFill>
                  <a:srgbClr val="F3F7FF"/>
                </a:solidFill>
                <a:latin typeface="Arial"/>
              </a:rPr>
              <a:t>Security References</a:t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/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>• OWASP Top 10 for LLM Applications</a:t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>• Prompt injection research papers</a:t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>• Jailbreak and adversarial prompt datasets</a:t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>• Hugging Face adversarial prompt collections</a:t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>• Safe red-team evaluation practices</a:t>
            </a:r>
            <a:endParaRPr lang="en-US" sz="1800"/>
          </a:p>
        </p:txBody>
      </p:sp>
      <p:sp>
        <p:nvSpPr>
          <p:cNvPr id="53" name="Text"/>
          <p:cNvSpPr txBox="1"/>
          <p:nvPr/>
        </p:nvSpPr>
        <p:spPr>
          <a:xfrm>
            <a:off x="731520" y="5715000"/>
            <a:ext cx="104698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800" b="1">
                <a:solidFill>
                  <a:srgbClr val="00E5FF"/>
                </a:solidFill>
                <a:latin typeface="Arial"/>
              </a:rPr>
              <a:t>Adaptive Multi-Agent LLM Defense Lab - EMSI Final Project Presentation</a:t>
            </a:r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enseLab">
  <a:themeElements>
    <a:clrScheme name="DefenseLab">
      <a:dk1>
        <a:srgbClr val="050816"/>
      </a:dk1>
      <a:lt1>
        <a:srgbClr val="FFFFFF"/>
      </a:lt1>
      <a:dk2>
        <a:srgbClr val="111827"/>
      </a:dk2>
      <a:lt2>
        <a:srgbClr val="E5E7EB"/>
      </a:lt2>
      <a:accent1>
        <a:srgbClr val="00E5FF"/>
      </a:accent1>
      <a:accent2>
        <a:srgbClr val="2F8CFF"/>
      </a:accent2>
      <a:accent3>
        <a:srgbClr val="20FF7D"/>
      </a:accent3>
      <a:accent4>
        <a:srgbClr val="FF4D4D"/>
      </a:accent4>
      <a:accent5>
        <a:srgbClr val="F97316"/>
      </a:accent5>
      <a:accent6>
        <a:srgbClr val="8B5CF6"/>
      </a:accent6>
      <a:hlink>
        <a:srgbClr val="2F8CFF"/>
      </a:hlink>
      <a:folHlink>
        <a:srgbClr val="8B5CF6"/>
      </a:folHlink>
    </a:clrScheme>
    <a:fontScheme name="DefenseLab">
      <a:majorFont>
        <a:latin typeface="Arial"/>
      </a:majorFont>
      <a:minorFont>
        <a:latin typeface="Arial"/>
      </a:minorFont>
    </a:fontScheme>
    <a:fmtScheme name="DefenseLab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Codex Generated Editable Presentation</Application>
  <PresentationFormat>Widescreen</PresentationFormat>
  <Slides>10</Slides>
  <Company>EMSI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Adaptive Multi-Agent LLM Defense Lab</dc:title>
  <dc:creator>Codex</dc:creator>
  <cp:lastModifiedBy>Codex</cp:lastModifiedBy>
  <dcterms:created xsi:type="dcterms:W3CDTF">2026-05-15T19:12:50Z</dcterms:created>
  <dcterms:modified xsi:type="dcterms:W3CDTF">2026-05-15T19:12:50Z</dcterms:modified>
</cp:coreProperties>
</file>