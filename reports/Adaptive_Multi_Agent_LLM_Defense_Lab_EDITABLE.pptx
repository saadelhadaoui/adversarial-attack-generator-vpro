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Title_1_logo_vert.png"/>
  <Relationship Id="rId3" Type="http://schemas.openxmlformats.org/officeDocument/2006/relationships/image" Target="../media/Title_2_WhatsApp_Image_2026_05_15_at.jpe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oject_Overview_1_Screenshot_2026_05_15_130530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ystem_Architecture_1_Screenshot_2026_05_15_131115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gent_Design_1_Screenshot_2026_05_15_13100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nteractive_Arena_1_Screenshot_2026_05_15_130622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ontrolled_Demo_Flow_1_Screenshot_2026_05_15_130638.png"/>
  <Relationship Id="rId3" Type="http://schemas.openxmlformats.org/officeDocument/2006/relationships/image" Target="../media/Controlled_Demo_Flow_2_Screenshot_2026_05_15_130712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ive_Pipeline_Evidence_1_Screenshot_2026_05_15_13103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QLite_Memory_1_Screenshot_2026_05_15_131059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valuation_Metrics_1_Screenshot_2026_05_15_131250.png"/>
  <Relationship Id="rId3" Type="http://schemas.openxmlformats.org/officeDocument/2006/relationships/image" Target="../media/Evaluation_Metrics_2_Screenshot_2026_05_15_13125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nal_Takeaway_1_Screenshot_2026_05_15_131044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pic>
        <p:nvPicPr>
          <p:cNvPr id="47" name="EMSI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50244" y="502920"/>
            <a:ext cx="3568791" cy="16002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48" name="EMSI Student Lab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9029700" y="502920"/>
            <a:ext cx="1737360" cy="173736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49" name="Text"/>
          <p:cNvSpPr txBox="1"/>
          <p:nvPr/>
        </p:nvSpPr>
        <p:spPr>
          <a:xfrm>
            <a:off x="685800" y="2788920"/>
            <a:ext cx="67665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4000" b="1">
                <a:solidFill>
                  <a:srgbClr val="F3F7FF"/>
                </a:solidFill>
                <a:latin typeface="Arial"/>
              </a:rPr>
              <a:t>Adaptive Multi-Agent</a:t>
            </a:r>
            <a:endParaRPr lang="en-US" sz="4000"/>
          </a:p>
        </p:txBody>
      </p:sp>
      <p:sp>
        <p:nvSpPr>
          <p:cNvPr id="50" name="Text"/>
          <p:cNvSpPr txBox="1"/>
          <p:nvPr/>
        </p:nvSpPr>
        <p:spPr>
          <a:xfrm>
            <a:off x="685800" y="3364992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4000" b="1">
                <a:solidFill>
                  <a:srgbClr val="00E5FF"/>
                </a:solidFill>
                <a:latin typeface="Arial"/>
              </a:rPr>
              <a:t>LLM Defense Lab</a:t>
            </a:r>
            <a:endParaRPr lang="en-US" sz="4000"/>
          </a:p>
        </p:txBody>
      </p:sp>
      <p:sp>
        <p:nvSpPr>
          <p:cNvPr id="51" name="Rectangle"/>
          <p:cNvSpPr/>
          <p:nvPr/>
        </p:nvSpPr>
        <p:spPr>
          <a:xfrm>
            <a:off x="685800" y="4041648"/>
            <a:ext cx="589788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685800" y="4370832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2200" b="1">
                <a:solidFill>
                  <a:srgbClr val="F3F7FF"/>
                </a:solidFill>
                <a:latin typeface="Arial"/>
              </a:rPr>
              <a:t>Adaptive AI Security Through Agentic Defense, Live SQLite Memory, Ollama, and Controlled Demonstration</a:t>
            </a:r>
            <a:endParaRPr lang="en-US" sz="2200"/>
          </a:p>
        </p:txBody>
      </p:sp>
      <p:sp>
        <p:nvSpPr>
          <p:cNvPr id="53" name="Text"/>
          <p:cNvSpPr txBox="1"/>
          <p:nvPr/>
        </p:nvSpPr>
        <p:spPr>
          <a:xfrm>
            <a:off x="685800" y="5650992"/>
            <a:ext cx="6355080" cy="47548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600" b="0">
                <a:solidFill>
                  <a:srgbClr val="F3F7FF"/>
                </a:solidFill>
                <a:latin typeface="Arial"/>
              </a:rPr>
              <a:t>Streamlit UI  |  Ollama LLM  |  SQLite Memory  |  Multi-Agent Orchestration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01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Project Overview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218688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A live AI security lab that detects, evaluates, learns, and adapts from adversarial prompts.</a:t>
            </a:r>
            <a:endParaRPr lang="en-US" sz="1500"/>
          </a:p>
        </p:txBody>
      </p:sp>
      <p:sp>
        <p:nvSpPr>
          <p:cNvPr id="51" name="Defender Card"/>
          <p:cNvSpPr/>
          <p:nvPr/>
        </p:nvSpPr>
        <p:spPr>
          <a:xfrm>
            <a:off x="594360" y="1965960"/>
            <a:ext cx="4251960" cy="74980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Defender Title"/>
          <p:cNvSpPr txBox="1"/>
          <p:nvPr/>
        </p:nvSpPr>
        <p:spPr>
          <a:xfrm>
            <a:off x="758952" y="2130552"/>
            <a:ext cx="39227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Defender</a:t>
            </a:r>
            <a:endParaRPr lang="en-US" sz="1600"/>
          </a:p>
        </p:txBody>
      </p:sp>
      <p:sp>
        <p:nvSpPr>
          <p:cNvPr id="53" name="Defender Body"/>
          <p:cNvSpPr txBox="1"/>
          <p:nvPr/>
        </p:nvSpPr>
        <p:spPr>
          <a:xfrm>
            <a:off x="758952" y="2496312"/>
            <a:ext cx="3922776" cy="73151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Classifies input and chooses PASS, BLOCK, REFORMULATE, or monitored execution.</a:t>
            </a:r>
            <a:endParaRPr lang="en-US" sz="1100"/>
          </a:p>
        </p:txBody>
      </p:sp>
      <p:sp>
        <p:nvSpPr>
          <p:cNvPr id="54" name="Protected Chatbot Card"/>
          <p:cNvSpPr/>
          <p:nvPr/>
        </p:nvSpPr>
        <p:spPr>
          <a:xfrm>
            <a:off x="594360" y="2880360"/>
            <a:ext cx="4251960" cy="74980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55" name="Protected Chatbot Title"/>
          <p:cNvSpPr txBox="1"/>
          <p:nvPr/>
        </p:nvSpPr>
        <p:spPr>
          <a:xfrm>
            <a:off x="758952" y="3044952"/>
            <a:ext cx="39227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Protected Chatbot</a:t>
            </a:r>
            <a:endParaRPr lang="en-US" sz="1600"/>
          </a:p>
        </p:txBody>
      </p:sp>
      <p:sp>
        <p:nvSpPr>
          <p:cNvPr id="56" name="Protected Chatbot Body"/>
          <p:cNvSpPr txBox="1"/>
          <p:nvPr/>
        </p:nvSpPr>
        <p:spPr>
          <a:xfrm>
            <a:off x="758952" y="3410712"/>
            <a:ext cx="3922776" cy="73151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Uses Ollama for normal replies and synthetic outputs for safe demos.</a:t>
            </a:r>
            <a:endParaRPr lang="en-US" sz="1100"/>
          </a:p>
        </p:txBody>
      </p:sp>
      <p:sp>
        <p:nvSpPr>
          <p:cNvPr id="57" name="Evaluator Card"/>
          <p:cNvSpPr/>
          <p:nvPr/>
        </p:nvSpPr>
        <p:spPr>
          <a:xfrm>
            <a:off x="594360" y="3794760"/>
            <a:ext cx="4251960" cy="74980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58" name="Evaluator Title"/>
          <p:cNvSpPr txBox="1"/>
          <p:nvPr/>
        </p:nvSpPr>
        <p:spPr>
          <a:xfrm>
            <a:off x="758952" y="3959352"/>
            <a:ext cx="39227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Evaluator</a:t>
            </a:r>
            <a:endParaRPr lang="en-US" sz="1600"/>
          </a:p>
        </p:txBody>
      </p:sp>
      <p:sp>
        <p:nvSpPr>
          <p:cNvPr id="59" name="Evaluator Body"/>
          <p:cNvSpPr txBox="1"/>
          <p:nvPr/>
        </p:nvSpPr>
        <p:spPr>
          <a:xfrm>
            <a:off x="758952" y="4325112"/>
            <a:ext cx="3922776" cy="73151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Scores defense success, attack success, and false positives.</a:t>
            </a:r>
            <a:endParaRPr lang="en-US" sz="1100"/>
          </a:p>
        </p:txBody>
      </p:sp>
      <p:sp>
        <p:nvSpPr>
          <p:cNvPr id="60" name="Learner + Memory Card"/>
          <p:cNvSpPr/>
          <p:nvPr/>
        </p:nvSpPr>
        <p:spPr>
          <a:xfrm>
            <a:off x="594360" y="4709160"/>
            <a:ext cx="4251960" cy="74980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/>
          <a:lstStyle/>
          <a:p/>
        </p:txBody>
      </p:sp>
      <p:sp>
        <p:nvSpPr>
          <p:cNvPr id="61" name="Learner + Memory Title"/>
          <p:cNvSpPr txBox="1"/>
          <p:nvPr/>
        </p:nvSpPr>
        <p:spPr>
          <a:xfrm>
            <a:off x="758952" y="4873752"/>
            <a:ext cx="39227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Learner + Memory</a:t>
            </a:r>
            <a:endParaRPr lang="en-US" sz="1600"/>
          </a:p>
        </p:txBody>
      </p:sp>
      <p:sp>
        <p:nvSpPr>
          <p:cNvPr id="62" name="Learner + Memory Body"/>
          <p:cNvSpPr txBox="1"/>
          <p:nvPr/>
        </p:nvSpPr>
        <p:spPr>
          <a:xfrm>
            <a:off x="758952" y="5239512"/>
            <a:ext cx="3922776" cy="73151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Stores patterns, generated rules, RAG events, and interactions in SQLite.</a:t>
            </a:r>
            <a:endParaRPr lang="en-US" sz="1100"/>
          </a:p>
        </p:txBody>
      </p:sp>
      <p:pic>
        <p:nvPicPr>
          <p:cNvPr id="63" name="Main UI"/>
          <p:cNvPicPr/>
          <p:nvPr/>
        </p:nvPicPr>
        <p:blipFill>
          <a:blip r:embed="rId2"/>
          <a:stretch>
            <a:fillRect/>
          </a:stretch>
        </p:blipFill>
        <p:spPr>
          <a:xfrm>
            <a:off x="5349240" y="1865831"/>
            <a:ext cx="6355080" cy="4269336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02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System Architecture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A closed feedback loop connects input, defense, chatbot response, evaluation, learning, and memory.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822960" y="256032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F8CFF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User / Prompt</a:t>
            </a:r>
            <a:endParaRPr lang="en-US" sz="1400"/>
          </a:p>
        </p:txBody>
      </p:sp>
      <p:sp>
        <p:nvSpPr>
          <p:cNvPr id="52" name="Text"/>
          <p:cNvSpPr txBox="1"/>
          <p:nvPr/>
        </p:nvSpPr>
        <p:spPr>
          <a:xfrm>
            <a:off x="2926080" y="256032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Defender Agent</a:t>
            </a:r>
            <a:endParaRPr lang="en-US" sz="1400"/>
          </a:p>
        </p:txBody>
      </p:sp>
      <p:sp>
        <p:nvSpPr>
          <p:cNvPr id="53" name="Text"/>
          <p:cNvSpPr txBox="1"/>
          <p:nvPr/>
        </p:nvSpPr>
        <p:spPr>
          <a:xfrm>
            <a:off x="5029200" y="256032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Protected Chatbot</a:t>
            </a:r>
            <a:endParaRPr lang="en-US" sz="1400"/>
          </a:p>
        </p:txBody>
      </p:sp>
      <p:sp>
        <p:nvSpPr>
          <p:cNvPr id="54" name="Text"/>
          <p:cNvSpPr txBox="1"/>
          <p:nvPr/>
        </p:nvSpPr>
        <p:spPr>
          <a:xfrm>
            <a:off x="7132320" y="256032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Evaluator Agent</a:t>
            </a:r>
            <a:endParaRPr lang="en-US" sz="1400"/>
          </a:p>
        </p:txBody>
      </p:sp>
      <p:sp>
        <p:nvSpPr>
          <p:cNvPr id="55" name="Text"/>
          <p:cNvSpPr txBox="1"/>
          <p:nvPr/>
        </p:nvSpPr>
        <p:spPr>
          <a:xfrm>
            <a:off x="5029200" y="425196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Learning Agent</a:t>
            </a:r>
            <a:endParaRPr lang="en-US" sz="1400"/>
          </a:p>
        </p:txBody>
      </p:sp>
      <p:sp>
        <p:nvSpPr>
          <p:cNvPr id="56" name="Text"/>
          <p:cNvSpPr txBox="1"/>
          <p:nvPr/>
        </p:nvSpPr>
        <p:spPr>
          <a:xfrm>
            <a:off x="2926080" y="4251960"/>
            <a:ext cx="1600200" cy="56692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 wrap="square" anchor="t" lIns="55000" tIns="55000" rIns="55000" bIns="5500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SQLite Memory</a:t>
            </a:r>
            <a:endParaRPr lang="en-US" sz="1400"/>
          </a:p>
        </p:txBody>
      </p:sp>
      <p:cxnSp>
        <p:nvCxnSpPr>
          <p:cNvPr id="57" name="Arrow"/>
          <p:cNvCxnSpPr/>
          <p:nvPr/>
        </p:nvCxnSpPr>
        <p:spPr>
          <a:xfrm>
            <a:off x="2423160" y="2834640"/>
            <a:ext cx="484632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58" name="Arrow"/>
          <p:cNvCxnSpPr/>
          <p:nvPr/>
        </p:nvCxnSpPr>
        <p:spPr>
          <a:xfrm>
            <a:off x="4526280" y="2834640"/>
            <a:ext cx="484632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59" name="Arrow"/>
          <p:cNvCxnSpPr/>
          <p:nvPr/>
        </p:nvCxnSpPr>
        <p:spPr>
          <a:xfrm>
            <a:off x="6629400" y="2834640"/>
            <a:ext cx="484632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0" name="Arrow"/>
          <p:cNvCxnSpPr/>
          <p:nvPr/>
        </p:nvCxnSpPr>
        <p:spPr>
          <a:xfrm>
            <a:off x="5897880" y="3127248"/>
            <a:ext cx="2020824" cy="1124712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1" name="Arrow"/>
          <p:cNvCxnSpPr/>
          <p:nvPr/>
        </p:nvCxnSpPr>
        <p:spPr>
          <a:xfrm>
            <a:off x="4526280" y="4535424"/>
            <a:ext cx="502919" cy="0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cxnSp>
        <p:nvCxnSpPr>
          <p:cNvPr id="62" name="Arrow"/>
          <p:cNvCxnSpPr/>
          <p:nvPr/>
        </p:nvCxnSpPr>
        <p:spPr>
          <a:xfrm>
            <a:off x="3730752" y="3127248"/>
            <a:ext cx="0" cy="1124712"/>
          </a:xfrm>
          <a:prstGeom prst="straightConnector1">
            <a:avLst/>
          </a:prstGeom>
          <a:ln w="25400">
            <a:solidFill>
              <a:srgbClr val="00E5FF"/>
            </a:solidFill>
            <a:tailEnd type="none"/>
            <a:headEnd type="triangle"/>
          </a:ln>
        </p:spPr>
      </p:cxnSp>
      <p:sp>
        <p:nvSpPr>
          <p:cNvPr id="63" name="Text"/>
          <p:cNvSpPr txBox="1"/>
          <p:nvPr/>
        </p:nvSpPr>
        <p:spPr>
          <a:xfrm>
            <a:off x="8778240" y="1965960"/>
            <a:ext cx="2514600" cy="2651760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F3F7FF"/>
                </a:solidFill>
                <a:latin typeface="Arial"/>
              </a:rPr>
              <a:t>Memory gives the Defender context about previous attacks.</a:t>
            </a:r>
            <a:endParaRPr lang="en-US" sz="1500"/>
          </a:p>
          <a:p>
            <a:r>
              <a:rPr lang="en-US" sz="1500" b="0">
                <a:solidFill>
                  <a:srgbClr val="F3F7FF"/>
                </a:solidFill>
                <a:latin typeface="Arial"/>
              </a:rPr>
              <a:t/>
            </a:r>
            <a:endParaRPr lang="en-US" sz="1500"/>
          </a:p>
          <a:p>
            <a:r>
              <a:rPr lang="en-US" sz="1500" b="0">
                <a:solidFill>
                  <a:srgbClr val="F3F7FF"/>
                </a:solidFill>
                <a:latin typeface="Arial"/>
              </a:rPr>
              <a:t>The Evaluator turns outcomes into scores.</a:t>
            </a:r>
            <a:endParaRPr lang="en-US" sz="1500"/>
          </a:p>
          <a:p>
            <a:r>
              <a:rPr lang="en-US" sz="1500" b="0">
                <a:solidFill>
                  <a:srgbClr val="F3F7FF"/>
                </a:solidFill>
                <a:latin typeface="Arial"/>
              </a:rPr>
              <a:t/>
            </a:r>
            <a:endParaRPr lang="en-US" sz="1500"/>
          </a:p>
          <a:p>
            <a:r>
              <a:rPr lang="en-US" sz="1500" b="0">
                <a:solidFill>
                  <a:srgbClr val="F3F7FF"/>
                </a:solidFill>
                <a:latin typeface="Arial"/>
              </a:rPr>
              <a:t>The Learner converts failures into reusable rules.</a:t>
            </a:r>
            <a:endParaRPr lang="en-US" sz="1500"/>
          </a:p>
        </p:txBody>
      </p:sp>
      <p:pic>
        <p:nvPicPr>
          <p:cNvPr id="64" name="Architecture UI"/>
          <p:cNvPicPr/>
          <p:nvPr/>
        </p:nvPicPr>
        <p:blipFill>
          <a:blip r:embed="rId2"/>
          <a:stretch>
            <a:fillRect/>
          </a:stretch>
        </p:blipFill>
        <p:spPr>
          <a:xfrm>
            <a:off x="8833151" y="4709160"/>
            <a:ext cx="2084736" cy="13716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03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Agent Design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241401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Four specialized agents cooperate to make the chatbot adaptive instead of static.</a:t>
            </a:r>
            <a:endParaRPr lang="en-US" sz="1500"/>
          </a:p>
        </p:txBody>
      </p:sp>
      <p:sp>
        <p:nvSpPr>
          <p:cNvPr id="51" name="Attacker Agent Card"/>
          <p:cNvSpPr/>
          <p:nvPr/>
        </p:nvSpPr>
        <p:spPr>
          <a:xfrm>
            <a:off x="685800" y="1965960"/>
            <a:ext cx="2697480" cy="11887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F4D4D"/>
            </a:solidFill>
          </a:ln>
        </p:spPr>
        <p:txBody>
          <a:bodyPr/>
          <a:lstStyle/>
          <a:p/>
        </p:txBody>
      </p:sp>
      <p:sp>
        <p:nvSpPr>
          <p:cNvPr id="52" name="Attacker Agent Title"/>
          <p:cNvSpPr txBox="1"/>
          <p:nvPr/>
        </p:nvSpPr>
        <p:spPr>
          <a:xfrm>
            <a:off x="850392" y="2130552"/>
            <a:ext cx="23682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Attacker Agent</a:t>
            </a:r>
            <a:endParaRPr lang="en-US" sz="1600"/>
          </a:p>
        </p:txBody>
      </p:sp>
      <p:sp>
        <p:nvSpPr>
          <p:cNvPr id="53" name="Attacker Agent Body"/>
          <p:cNvSpPr txBox="1"/>
          <p:nvPr/>
        </p:nvSpPr>
        <p:spPr>
          <a:xfrm>
            <a:off x="850392" y="2496312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Generates safe synthetic probes for presentation and testing.</a:t>
            </a:r>
            <a:endParaRPr lang="en-US" sz="1100"/>
          </a:p>
        </p:txBody>
      </p:sp>
      <p:sp>
        <p:nvSpPr>
          <p:cNvPr id="54" name="Defender Agent Card"/>
          <p:cNvSpPr/>
          <p:nvPr/>
        </p:nvSpPr>
        <p:spPr>
          <a:xfrm>
            <a:off x="3611880" y="1965960"/>
            <a:ext cx="2697480" cy="11887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5" name="Defender Agent Title"/>
          <p:cNvSpPr txBox="1"/>
          <p:nvPr/>
        </p:nvSpPr>
        <p:spPr>
          <a:xfrm>
            <a:off x="3776472" y="2130552"/>
            <a:ext cx="23682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Defender Agent</a:t>
            </a:r>
            <a:endParaRPr lang="en-US" sz="1600"/>
          </a:p>
        </p:txBody>
      </p:sp>
      <p:sp>
        <p:nvSpPr>
          <p:cNvPr id="56" name="Defender Agent Body"/>
          <p:cNvSpPr txBox="1"/>
          <p:nvPr/>
        </p:nvSpPr>
        <p:spPr>
          <a:xfrm>
            <a:off x="3776472" y="2496312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Classifies prompt risk and applies mode-aware policy.</a:t>
            </a:r>
            <a:endParaRPr lang="en-US" sz="1100"/>
          </a:p>
        </p:txBody>
      </p:sp>
      <p:sp>
        <p:nvSpPr>
          <p:cNvPr id="57" name="Evaluator Agent Card"/>
          <p:cNvSpPr/>
          <p:nvPr/>
        </p:nvSpPr>
        <p:spPr>
          <a:xfrm>
            <a:off x="6537960" y="1965960"/>
            <a:ext cx="2697480" cy="11887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/>
          <a:lstStyle/>
          <a:p/>
        </p:txBody>
      </p:sp>
      <p:sp>
        <p:nvSpPr>
          <p:cNvPr id="58" name="Evaluator Agent Title"/>
          <p:cNvSpPr txBox="1"/>
          <p:nvPr/>
        </p:nvSpPr>
        <p:spPr>
          <a:xfrm>
            <a:off x="6702552" y="2130552"/>
            <a:ext cx="236829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Evaluator Agent</a:t>
            </a:r>
            <a:endParaRPr lang="en-US" sz="1600"/>
          </a:p>
        </p:txBody>
      </p:sp>
      <p:sp>
        <p:nvSpPr>
          <p:cNvPr id="59" name="Evaluator Agent Body"/>
          <p:cNvSpPr txBox="1"/>
          <p:nvPr/>
        </p:nvSpPr>
        <p:spPr>
          <a:xfrm>
            <a:off x="6702552" y="2496312"/>
            <a:ext cx="2368296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Audits the result and records scores in SQLite.</a:t>
            </a:r>
            <a:endParaRPr lang="en-US" sz="1100"/>
          </a:p>
        </p:txBody>
      </p:sp>
      <p:sp>
        <p:nvSpPr>
          <p:cNvPr id="60" name="Learning Agent Card"/>
          <p:cNvSpPr/>
          <p:nvPr/>
        </p:nvSpPr>
        <p:spPr>
          <a:xfrm>
            <a:off x="9464040" y="1965960"/>
            <a:ext cx="2057400" cy="11887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61" name="Learning Agent Title"/>
          <p:cNvSpPr txBox="1"/>
          <p:nvPr/>
        </p:nvSpPr>
        <p:spPr>
          <a:xfrm>
            <a:off x="9628632" y="2130552"/>
            <a:ext cx="172821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Learning Agent</a:t>
            </a:r>
            <a:endParaRPr lang="en-US" sz="1600"/>
          </a:p>
        </p:txBody>
      </p:sp>
      <p:sp>
        <p:nvSpPr>
          <p:cNvPr id="62" name="Learning Agent Body"/>
          <p:cNvSpPr txBox="1"/>
          <p:nvPr/>
        </p:nvSpPr>
        <p:spPr>
          <a:xfrm>
            <a:off x="9628632" y="2496312"/>
            <a:ext cx="1728216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Stores patterns and generated rules.</a:t>
            </a:r>
            <a:endParaRPr lang="en-US" sz="1100"/>
          </a:p>
        </p:txBody>
      </p:sp>
      <p:pic>
        <p:nvPicPr>
          <p:cNvPr id="63" name="Agent Section"/>
          <p:cNvPicPr/>
          <p:nvPr/>
        </p:nvPicPr>
        <p:blipFill>
          <a:blip r:embed="rId2"/>
          <a:stretch>
            <a:fillRect/>
          </a:stretch>
        </p:blipFill>
        <p:spPr>
          <a:xfrm>
            <a:off x="3789809" y="3520440"/>
            <a:ext cx="4673341" cy="233172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04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Interactive Arena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19856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Switch modes, run prompts, inspect traces, and show the live defense decision.</a:t>
            </a:r>
            <a:endParaRPr lang="en-US" sz="1500"/>
          </a:p>
        </p:txBody>
      </p:sp>
      <p:pic>
        <p:nvPicPr>
          <p:cNvPr id="51" name="Chatbot Arena"/>
          <p:cNvPicPr/>
          <p:nvPr/>
        </p:nvPicPr>
        <p:blipFill>
          <a:blip r:embed="rId2"/>
          <a:stretch>
            <a:fillRect/>
          </a:stretch>
        </p:blipFill>
        <p:spPr>
          <a:xfrm>
            <a:off x="2122891" y="1783080"/>
            <a:ext cx="7961456" cy="452628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52" name="Text"/>
          <p:cNvSpPr txBox="1"/>
          <p:nvPr/>
        </p:nvSpPr>
        <p:spPr>
          <a:xfrm>
            <a:off x="822960" y="6355080"/>
            <a:ext cx="102870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1">
                <a:solidFill>
                  <a:srgbClr val="20FF7D"/>
                </a:solidFill>
                <a:latin typeface="Arial"/>
              </a:rPr>
              <a:t>Protection mode blocks suspicious prompts. Controlled mode allows monitored synthetic events to prove adaptation.</a:t>
            </a:r>
            <a:endParaRPr lang="en-US"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05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Controlled Demo Flow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A first controlled attack can be allowed under monitoring, learned, then blocked when repeated.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594360" y="1828800"/>
            <a:ext cx="2423160" cy="8229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1  Reset Memory</a:t>
            </a:r>
            <a:endParaRPr lang="en-US" sz="1400"/>
          </a:p>
          <a:p>
            <a:r>
              <a:rPr lang="en-US" sz="1400" b="1">
                <a:solidFill>
                  <a:srgbClr val="F3F7FF"/>
                </a:solidFill>
                <a:latin typeface="Arial"/>
              </a:rPr>
              <a:t>Fresh database state.</a:t>
            </a:r>
            <a:endParaRPr lang="en-US" sz="1400"/>
          </a:p>
        </p:txBody>
      </p:sp>
      <p:sp>
        <p:nvSpPr>
          <p:cNvPr id="52" name="Text"/>
          <p:cNvSpPr txBox="1"/>
          <p:nvPr/>
        </p:nvSpPr>
        <p:spPr>
          <a:xfrm>
            <a:off x="3474720" y="1828800"/>
            <a:ext cx="2423160" cy="8229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2  First Attempt</a:t>
            </a:r>
            <a:endParaRPr lang="en-US" sz="1400"/>
          </a:p>
          <a:p>
            <a:r>
              <a:rPr lang="en-US" sz="1400" b="1">
                <a:solidFill>
                  <a:srgbClr val="F3F7FF"/>
                </a:solidFill>
                <a:latin typeface="Arial"/>
              </a:rPr>
              <a:t>Monitored synthetic leak.</a:t>
            </a:r>
            <a:endParaRPr lang="en-US" sz="1400"/>
          </a:p>
        </p:txBody>
      </p:sp>
      <p:sp>
        <p:nvSpPr>
          <p:cNvPr id="53" name="Text"/>
          <p:cNvSpPr txBox="1"/>
          <p:nvPr/>
        </p:nvSpPr>
        <p:spPr>
          <a:xfrm>
            <a:off x="6355080" y="1828800"/>
            <a:ext cx="2423160" cy="8229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3  Learning</a:t>
            </a:r>
            <a:endParaRPr lang="en-US" sz="1400"/>
          </a:p>
          <a:p>
            <a:r>
              <a:rPr lang="en-US" sz="1400" b="1">
                <a:solidFill>
                  <a:srgbClr val="F3F7FF"/>
                </a:solidFill>
                <a:latin typeface="Arial"/>
              </a:rPr>
              <a:t>Pattern saved to SQLite.</a:t>
            </a:r>
            <a:endParaRPr lang="en-US" sz="1400"/>
          </a:p>
        </p:txBody>
      </p:sp>
      <p:sp>
        <p:nvSpPr>
          <p:cNvPr id="54" name="Text"/>
          <p:cNvSpPr txBox="1"/>
          <p:nvPr/>
        </p:nvSpPr>
        <p:spPr>
          <a:xfrm>
            <a:off x="9235440" y="1828800"/>
            <a:ext cx="2423160" cy="8229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400" b="1">
                <a:solidFill>
                  <a:srgbClr val="F3F7FF"/>
                </a:solidFill>
                <a:latin typeface="Arial"/>
              </a:rPr>
              <a:t>4  Repeat</a:t>
            </a:r>
            <a:endParaRPr lang="en-US" sz="1400"/>
          </a:p>
          <a:p>
            <a:r>
              <a:rPr lang="en-US" sz="1400" b="1">
                <a:solidFill>
                  <a:srgbClr val="F3F7FF"/>
                </a:solidFill>
                <a:latin typeface="Arial"/>
              </a:rPr>
              <a:t>Same pattern is blocked.</a:t>
            </a:r>
            <a:endParaRPr lang="en-US" sz="1400"/>
          </a:p>
        </p:txBody>
      </p:sp>
      <p:pic>
        <p:nvPicPr>
          <p:cNvPr id="55" name="First Attempt"/>
          <p:cNvPicPr/>
          <p:nvPr/>
        </p:nvPicPr>
        <p:blipFill>
          <a:blip r:embed="rId2"/>
          <a:stretch>
            <a:fillRect/>
          </a:stretch>
        </p:blipFill>
        <p:spPr>
          <a:xfrm>
            <a:off x="1689937" y="2971800"/>
            <a:ext cx="3386685" cy="256032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56" name="Repeat Attempt"/>
          <p:cNvPicPr/>
          <p:nvPr/>
        </p:nvPicPr>
        <p:blipFill>
          <a:blip r:embed="rId3"/>
          <a:stretch>
            <a:fillRect/>
          </a:stretch>
        </p:blipFill>
        <p:spPr>
          <a:xfrm>
            <a:off x="7041205" y="2971800"/>
            <a:ext cx="3565509" cy="256032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06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Live Pipeline Evidence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The log, summary, and chart are read from real SQLite interaction rows.</a:t>
            </a:r>
            <a:endParaRPr lang="en-US" sz="1500"/>
          </a:p>
        </p:txBody>
      </p:sp>
      <p:pic>
        <p:nvPicPr>
          <p:cNvPr id="51" name="Pipeline Log"/>
          <p:cNvPicPr/>
          <p:nvPr/>
        </p:nvPicPr>
        <p:blipFill>
          <a:blip r:embed="rId2"/>
          <a:stretch>
            <a:fillRect/>
          </a:stretch>
        </p:blipFill>
        <p:spPr>
          <a:xfrm>
            <a:off x="1689865" y="1783080"/>
            <a:ext cx="5124189" cy="452628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52" name="Text"/>
          <p:cNvSpPr txBox="1"/>
          <p:nvPr/>
        </p:nvSpPr>
        <p:spPr>
          <a:xfrm>
            <a:off x="8275320" y="1920240"/>
            <a:ext cx="2971800" cy="914400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2000" b="1">
                <a:solidFill>
                  <a:srgbClr val="00E5FF"/>
                </a:solidFill>
                <a:latin typeface="Arial"/>
              </a:rPr>
              <a:t>What the audience sees</a:t>
            </a:r>
            <a:endParaRPr lang="en-US" sz="2000"/>
          </a:p>
        </p:txBody>
      </p:sp>
      <p:sp>
        <p:nvSpPr>
          <p:cNvPr id="53" name="Text"/>
          <p:cNvSpPr txBox="1"/>
          <p:nvPr/>
        </p:nvSpPr>
        <p:spPr>
          <a:xfrm>
            <a:off x="8275320" y="2971800"/>
            <a:ext cx="2971800" cy="219456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Defender actions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Risk and defense scores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Attack success rate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Learned patterns</a:t>
            </a:r>
            <a:endParaRPr lang="en-US" sz="1700"/>
          </a:p>
          <a:p>
            <a:r>
              <a:rPr lang="en-US" sz="1700" b="0">
                <a:solidFill>
                  <a:srgbClr val="F3F7FF"/>
                </a:solidFill>
                <a:latin typeface="Arial"/>
              </a:rPr>
              <a:t>• Real-time refresh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07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SQLite Memory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2615184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Memory is not decorative: the UI reads learned patterns, rules, RAG events, and interactions live.</a:t>
            </a:r>
            <a:endParaRPr lang="en-US" sz="1500"/>
          </a:p>
        </p:txBody>
      </p:sp>
      <p:pic>
        <p:nvPicPr>
          <p:cNvPr id="51" name="Memory UI"/>
          <p:cNvPicPr/>
          <p:nvPr/>
        </p:nvPicPr>
        <p:blipFill>
          <a:blip r:embed="rId2"/>
          <a:stretch>
            <a:fillRect/>
          </a:stretch>
        </p:blipFill>
        <p:spPr>
          <a:xfrm>
            <a:off x="1964857" y="1737360"/>
            <a:ext cx="4802805" cy="452628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52" name="Interactions Card"/>
          <p:cNvSpPr/>
          <p:nvPr/>
        </p:nvSpPr>
        <p:spPr>
          <a:xfrm>
            <a:off x="8366760" y="1874519"/>
            <a:ext cx="2788920" cy="84124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3" name="Interactions Title"/>
          <p:cNvSpPr txBox="1"/>
          <p:nvPr/>
        </p:nvSpPr>
        <p:spPr>
          <a:xfrm>
            <a:off x="8531352" y="2039112"/>
            <a:ext cx="24597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Interactions</a:t>
            </a:r>
            <a:endParaRPr lang="en-US" sz="1600"/>
          </a:p>
        </p:txBody>
      </p:sp>
      <p:sp>
        <p:nvSpPr>
          <p:cNvPr id="54" name="Interactions Body"/>
          <p:cNvSpPr txBox="1"/>
          <p:nvPr/>
        </p:nvSpPr>
        <p:spPr>
          <a:xfrm>
            <a:off x="8531352" y="2404872"/>
            <a:ext cx="24597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Every prompt and decision is logged.</a:t>
            </a:r>
            <a:endParaRPr lang="en-US" sz="1100"/>
          </a:p>
        </p:txBody>
      </p:sp>
      <p:sp>
        <p:nvSpPr>
          <p:cNvPr id="55" name="Learned Patterns Card"/>
          <p:cNvSpPr/>
          <p:nvPr/>
        </p:nvSpPr>
        <p:spPr>
          <a:xfrm>
            <a:off x="8366760" y="2880360"/>
            <a:ext cx="2788920" cy="84124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56" name="Learned Patterns Title"/>
          <p:cNvSpPr txBox="1"/>
          <p:nvPr/>
        </p:nvSpPr>
        <p:spPr>
          <a:xfrm>
            <a:off x="8531352" y="3044952"/>
            <a:ext cx="24597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Learned Patterns</a:t>
            </a:r>
            <a:endParaRPr lang="en-US" sz="1600"/>
          </a:p>
        </p:txBody>
      </p:sp>
      <p:sp>
        <p:nvSpPr>
          <p:cNvPr id="57" name="Learned Patterns Body"/>
          <p:cNvSpPr txBox="1"/>
          <p:nvPr/>
        </p:nvSpPr>
        <p:spPr>
          <a:xfrm>
            <a:off x="8531352" y="3410712"/>
            <a:ext cx="24597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Successful attacks become memory.</a:t>
            </a:r>
            <a:endParaRPr lang="en-US" sz="1100"/>
          </a:p>
        </p:txBody>
      </p:sp>
      <p:sp>
        <p:nvSpPr>
          <p:cNvPr id="58" name="Defender Rules Card"/>
          <p:cNvSpPr/>
          <p:nvPr/>
        </p:nvSpPr>
        <p:spPr>
          <a:xfrm>
            <a:off x="8366760" y="3886200"/>
            <a:ext cx="2788920" cy="84124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8B5CF6"/>
            </a:solidFill>
          </a:ln>
        </p:spPr>
        <p:txBody>
          <a:bodyPr/>
          <a:lstStyle/>
          <a:p/>
        </p:txBody>
      </p:sp>
      <p:sp>
        <p:nvSpPr>
          <p:cNvPr id="59" name="Defender Rules Title"/>
          <p:cNvSpPr txBox="1"/>
          <p:nvPr/>
        </p:nvSpPr>
        <p:spPr>
          <a:xfrm>
            <a:off x="8531352" y="4050791"/>
            <a:ext cx="24597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Defender Rules</a:t>
            </a:r>
            <a:endParaRPr lang="en-US" sz="1600"/>
          </a:p>
        </p:txBody>
      </p:sp>
      <p:sp>
        <p:nvSpPr>
          <p:cNvPr id="60" name="Defender Rules Body"/>
          <p:cNvSpPr txBox="1"/>
          <p:nvPr/>
        </p:nvSpPr>
        <p:spPr>
          <a:xfrm>
            <a:off x="8531352" y="4416552"/>
            <a:ext cx="24597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Generated rules influence future decisions.</a:t>
            </a:r>
            <a:endParaRPr lang="en-US" sz="1100"/>
          </a:p>
        </p:txBody>
      </p:sp>
      <p:sp>
        <p:nvSpPr>
          <p:cNvPr id="61" name="RAG Events Card"/>
          <p:cNvSpPr/>
          <p:nvPr/>
        </p:nvSpPr>
        <p:spPr>
          <a:xfrm>
            <a:off x="8366760" y="4892040"/>
            <a:ext cx="2788920" cy="841248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62" name="RAG Events Title"/>
          <p:cNvSpPr txBox="1"/>
          <p:nvPr/>
        </p:nvSpPr>
        <p:spPr>
          <a:xfrm>
            <a:off x="8531352" y="5056631"/>
            <a:ext cx="245973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RAG Events</a:t>
            </a:r>
            <a:endParaRPr lang="en-US" sz="1600"/>
          </a:p>
        </p:txBody>
      </p:sp>
      <p:sp>
        <p:nvSpPr>
          <p:cNvPr id="63" name="RAG Events Body"/>
          <p:cNvSpPr txBox="1"/>
          <p:nvPr/>
        </p:nvSpPr>
        <p:spPr>
          <a:xfrm>
            <a:off x="8531352" y="5422392"/>
            <a:ext cx="245973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Retrieval makes past attacks visible.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08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Evaluation Metrics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Evaluation balances safety and usefulness instead of simply blocking everything.</a:t>
            </a:r>
            <a:endParaRPr lang="en-US" sz="1500"/>
          </a:p>
        </p:txBody>
      </p:sp>
      <p:pic>
        <p:nvPicPr>
          <p:cNvPr id="51" name="Evaluation Charts"/>
          <p:cNvPicPr/>
          <p:nvPr/>
        </p:nvPicPr>
        <p:blipFill>
          <a:blip r:embed="rId2"/>
          <a:stretch>
            <a:fillRect/>
          </a:stretch>
        </p:blipFill>
        <p:spPr>
          <a:xfrm>
            <a:off x="658974" y="1783080"/>
            <a:ext cx="5311451" cy="452628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pic>
        <p:nvPicPr>
          <p:cNvPr id="52" name="Evaluation Rows"/>
          <p:cNvPicPr/>
          <p:nvPr/>
        </p:nvPicPr>
        <p:blipFill>
          <a:blip r:embed="rId3"/>
          <a:stretch>
            <a:fillRect/>
          </a:stretch>
        </p:blipFill>
        <p:spPr>
          <a:xfrm>
            <a:off x="6309360" y="1931489"/>
            <a:ext cx="5166360" cy="294930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53" name="Text"/>
          <p:cNvSpPr txBox="1"/>
          <p:nvPr/>
        </p:nvSpPr>
        <p:spPr>
          <a:xfrm>
            <a:off x="6309360" y="5257800"/>
            <a:ext cx="5166360" cy="68580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600" b="0">
                <a:solidFill>
                  <a:srgbClr val="F3F7FF"/>
                </a:solidFill>
                <a:latin typeface="Arial"/>
              </a:rPr>
              <a:t>Key metrics: interactions, attack success, defense success, average defense score, false positives, and learned patterns.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09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Final Takeaway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2816352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The system demonstrates adaptive LLM defense in a safe, synthetic, presentation-ready way.</a:t>
            </a:r>
            <a:endParaRPr lang="en-US" sz="1500"/>
          </a:p>
        </p:txBody>
      </p:sp>
      <p:sp>
        <p:nvSpPr>
          <p:cNvPr id="51" name="Protection Mode Card"/>
          <p:cNvSpPr/>
          <p:nvPr/>
        </p:nvSpPr>
        <p:spPr>
          <a:xfrm>
            <a:off x="777240" y="1874519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2" name="Protection Mode Title"/>
          <p:cNvSpPr txBox="1"/>
          <p:nvPr/>
        </p:nvSpPr>
        <p:spPr>
          <a:xfrm>
            <a:off x="941832" y="203911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Protection Mode</a:t>
            </a:r>
            <a:endParaRPr lang="en-US" sz="1600"/>
          </a:p>
        </p:txBody>
      </p:sp>
      <p:sp>
        <p:nvSpPr>
          <p:cNvPr id="53" name="Protection Mode Body"/>
          <p:cNvSpPr txBox="1"/>
          <p:nvPr/>
        </p:nvSpPr>
        <p:spPr>
          <a:xfrm>
            <a:off x="941832" y="240487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Blocks suspicious injection, jailbreak, and data exfiltration attempts.</a:t>
            </a:r>
            <a:endParaRPr lang="en-US" sz="1100"/>
          </a:p>
        </p:txBody>
      </p:sp>
      <p:sp>
        <p:nvSpPr>
          <p:cNvPr id="54" name="Controlled Mode Card"/>
          <p:cNvSpPr/>
          <p:nvPr/>
        </p:nvSpPr>
        <p:spPr>
          <a:xfrm>
            <a:off x="777240" y="3063240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F97316"/>
            </a:solidFill>
          </a:ln>
        </p:spPr>
        <p:txBody>
          <a:bodyPr/>
          <a:lstStyle/>
          <a:p/>
        </p:txBody>
      </p:sp>
      <p:sp>
        <p:nvSpPr>
          <p:cNvPr id="55" name="Controlled Mode Title"/>
          <p:cNvSpPr txBox="1"/>
          <p:nvPr/>
        </p:nvSpPr>
        <p:spPr>
          <a:xfrm>
            <a:off x="941832" y="322783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Controlled Mode</a:t>
            </a:r>
            <a:endParaRPr lang="en-US" sz="1600"/>
          </a:p>
        </p:txBody>
      </p:sp>
      <p:sp>
        <p:nvSpPr>
          <p:cNvPr id="56" name="Controlled Mode Body"/>
          <p:cNvSpPr txBox="1"/>
          <p:nvPr/>
        </p:nvSpPr>
        <p:spPr>
          <a:xfrm>
            <a:off x="941832" y="359359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Allows monitored synthetic events only for proof of learning.</a:t>
            </a:r>
            <a:endParaRPr lang="en-US" sz="1100"/>
          </a:p>
        </p:txBody>
      </p:sp>
      <p:sp>
        <p:nvSpPr>
          <p:cNvPr id="57" name="Live Memory Card"/>
          <p:cNvSpPr/>
          <p:nvPr/>
        </p:nvSpPr>
        <p:spPr>
          <a:xfrm>
            <a:off x="777240" y="4251960"/>
            <a:ext cx="3337560" cy="96012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20FF7D"/>
            </a:solidFill>
          </a:ln>
        </p:spPr>
        <p:txBody>
          <a:bodyPr/>
          <a:lstStyle/>
          <a:p/>
        </p:txBody>
      </p:sp>
      <p:sp>
        <p:nvSpPr>
          <p:cNvPr id="58" name="Live Memory Title"/>
          <p:cNvSpPr txBox="1"/>
          <p:nvPr/>
        </p:nvSpPr>
        <p:spPr>
          <a:xfrm>
            <a:off x="941832" y="4416552"/>
            <a:ext cx="300837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600" b="1">
                <a:solidFill>
                  <a:srgbClr val="F3F7FF"/>
                </a:solidFill>
                <a:latin typeface="Arial"/>
              </a:rPr>
              <a:t>Live Memory</a:t>
            </a:r>
            <a:endParaRPr lang="en-US" sz="1600"/>
          </a:p>
        </p:txBody>
      </p:sp>
      <p:sp>
        <p:nvSpPr>
          <p:cNvPr id="59" name="Live Memory Body"/>
          <p:cNvSpPr txBox="1"/>
          <p:nvPr/>
        </p:nvSpPr>
        <p:spPr>
          <a:xfrm>
            <a:off x="941832" y="4782312"/>
            <a:ext cx="3008376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100" b="0">
                <a:solidFill>
                  <a:srgbClr val="B5C2D8"/>
                </a:solidFill>
                <a:latin typeface="Arial"/>
              </a:rPr>
              <a:t>SQLite stores interactions, patterns, rules, RAG events, and metrics.</a:t>
            </a:r>
            <a:endParaRPr lang="en-US" sz="1100"/>
          </a:p>
        </p:txBody>
      </p:sp>
      <p:pic>
        <p:nvPicPr>
          <p:cNvPr id="60" name="Evidence"/>
          <p:cNvPicPr/>
          <p:nvPr/>
        </p:nvPicPr>
        <p:blipFill>
          <a:blip r:embed="rId2"/>
          <a:stretch>
            <a:fillRect/>
          </a:stretch>
        </p:blipFill>
        <p:spPr>
          <a:xfrm>
            <a:off x="6084086" y="1828800"/>
            <a:ext cx="3742387" cy="3063240"/>
          </a:xfrm>
          <a:prstGeom prst="rect">
            <a:avLst/>
          </a:prstGeom>
          <a:ln w="12700">
            <a:solidFill>
              <a:srgbClr val="00E5FF">
                <a:alpha val="80000"/>
              </a:srgbClr>
            </a:solidFill>
          </a:ln>
        </p:spPr>
      </p:pic>
      <p:sp>
        <p:nvSpPr>
          <p:cNvPr id="61" name="Text"/>
          <p:cNvSpPr txBox="1"/>
          <p:nvPr/>
        </p:nvSpPr>
        <p:spPr>
          <a:xfrm>
            <a:off x="4709160" y="5257800"/>
            <a:ext cx="6492240" cy="676656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20FF7D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1">
                <a:solidFill>
                  <a:srgbClr val="F3F7FF"/>
                </a:solidFill>
                <a:latin typeface="Arial"/>
              </a:rPr>
              <a:t>Core message: the defense observes, evaluates, remembers, and improves after risky interactions.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6"/>
          </a:solidFill>
          <a:ln w="12700">
            <a:solidFill>
              <a:srgbClr val="050816"/>
            </a:solidFill>
          </a:ln>
        </p:spPr>
        <p:txBody>
          <a:bodyPr/>
          <a:lstStyle/>
          <a:p/>
        </p:txBody>
      </p:sp>
      <p:sp>
        <p:nvSpPr>
          <p:cNvPr id="3" name="Grid V"/>
          <p:cNvSpPr/>
          <p:nvPr/>
        </p:nvSpPr>
        <p:spPr>
          <a:xfrm>
            <a:off x="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4" name="Grid V"/>
          <p:cNvSpPr/>
          <p:nvPr/>
        </p:nvSpPr>
        <p:spPr>
          <a:xfrm>
            <a:off x="45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5" name="Grid V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6" name="Grid V"/>
          <p:cNvSpPr/>
          <p:nvPr/>
        </p:nvSpPr>
        <p:spPr>
          <a:xfrm>
            <a:off x="1371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7" name="Grid V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8" name="Grid V"/>
          <p:cNvSpPr/>
          <p:nvPr/>
        </p:nvSpPr>
        <p:spPr>
          <a:xfrm>
            <a:off x="2286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9" name="Grid V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0" name="Grid V"/>
          <p:cNvSpPr/>
          <p:nvPr/>
        </p:nvSpPr>
        <p:spPr>
          <a:xfrm>
            <a:off x="3200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1" name="Grid V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2" name="Grid V"/>
          <p:cNvSpPr/>
          <p:nvPr/>
        </p:nvSpPr>
        <p:spPr>
          <a:xfrm>
            <a:off x="4114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3" name="Grid V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4" name="Grid V"/>
          <p:cNvSpPr/>
          <p:nvPr/>
        </p:nvSpPr>
        <p:spPr>
          <a:xfrm>
            <a:off x="5029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5" name="Grid V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6" name="Grid V"/>
          <p:cNvSpPr/>
          <p:nvPr/>
        </p:nvSpPr>
        <p:spPr>
          <a:xfrm>
            <a:off x="5943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7" name="Grid V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8" name="Grid V"/>
          <p:cNvSpPr/>
          <p:nvPr/>
        </p:nvSpPr>
        <p:spPr>
          <a:xfrm>
            <a:off x="6858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19" name="Grid V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0" name="Grid V"/>
          <p:cNvSpPr/>
          <p:nvPr/>
        </p:nvSpPr>
        <p:spPr>
          <a:xfrm>
            <a:off x="7772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1" name="Grid V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2" name="Grid V"/>
          <p:cNvSpPr/>
          <p:nvPr/>
        </p:nvSpPr>
        <p:spPr>
          <a:xfrm>
            <a:off x="8686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3" name="Grid V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4" name="Grid V"/>
          <p:cNvSpPr/>
          <p:nvPr/>
        </p:nvSpPr>
        <p:spPr>
          <a:xfrm>
            <a:off x="9601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5" name="Grid V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6" name="Grid V"/>
          <p:cNvSpPr/>
          <p:nvPr/>
        </p:nvSpPr>
        <p:spPr>
          <a:xfrm>
            <a:off x="105156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7" name="Grid V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8" name="Grid V"/>
          <p:cNvSpPr/>
          <p:nvPr/>
        </p:nvSpPr>
        <p:spPr>
          <a:xfrm>
            <a:off x="114300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29" name="Grid V"/>
          <p:cNvSpPr/>
          <p:nvPr/>
        </p:nvSpPr>
        <p:spPr>
          <a:xfrm>
            <a:off x="118872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0" name="Grid V"/>
          <p:cNvSpPr/>
          <p:nvPr/>
        </p:nvSpPr>
        <p:spPr>
          <a:xfrm>
            <a:off x="12344400" y="0"/>
            <a:ext cx="5486" cy="6858000"/>
          </a:xfrm>
          <a:prstGeom prst="rect">
            <a:avLst/>
          </a:prstGeom>
          <a:solidFill>
            <a:srgbClr val="0B2340">
              <a:alpha val="45000"/>
            </a:srgbClr>
          </a:solidFill>
          <a:ln w="12700">
            <a:solidFill>
              <a:srgbClr val="0B2340">
                <a:alpha val="45000"/>
              </a:srgbClr>
            </a:solidFill>
          </a:ln>
        </p:spPr>
        <p:txBody>
          <a:bodyPr/>
          <a:lstStyle/>
          <a:p/>
        </p:txBody>
      </p:sp>
      <p:sp>
        <p:nvSpPr>
          <p:cNvPr id="31" name="Grid H"/>
          <p:cNvSpPr/>
          <p:nvPr/>
        </p:nvSpPr>
        <p:spPr>
          <a:xfrm>
            <a:off x="0" y="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2" name="Grid H"/>
          <p:cNvSpPr/>
          <p:nvPr/>
        </p:nvSpPr>
        <p:spPr>
          <a:xfrm>
            <a:off x="0" y="457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3" name="Grid H"/>
          <p:cNvSpPr/>
          <p:nvPr/>
        </p:nvSpPr>
        <p:spPr>
          <a:xfrm>
            <a:off x="0" y="914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4" name="Grid H"/>
          <p:cNvSpPr/>
          <p:nvPr/>
        </p:nvSpPr>
        <p:spPr>
          <a:xfrm>
            <a:off x="0" y="1371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5" name="Grid H"/>
          <p:cNvSpPr/>
          <p:nvPr/>
        </p:nvSpPr>
        <p:spPr>
          <a:xfrm>
            <a:off x="0" y="1828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6" name="Grid H"/>
          <p:cNvSpPr/>
          <p:nvPr/>
        </p:nvSpPr>
        <p:spPr>
          <a:xfrm>
            <a:off x="0" y="2286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7" name="Grid H"/>
          <p:cNvSpPr/>
          <p:nvPr/>
        </p:nvSpPr>
        <p:spPr>
          <a:xfrm>
            <a:off x="0" y="2743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8" name="Grid H"/>
          <p:cNvSpPr/>
          <p:nvPr/>
        </p:nvSpPr>
        <p:spPr>
          <a:xfrm>
            <a:off x="0" y="3200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39" name="Grid H"/>
          <p:cNvSpPr/>
          <p:nvPr/>
        </p:nvSpPr>
        <p:spPr>
          <a:xfrm>
            <a:off x="0" y="3657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0" name="Grid H"/>
          <p:cNvSpPr/>
          <p:nvPr/>
        </p:nvSpPr>
        <p:spPr>
          <a:xfrm>
            <a:off x="0" y="4114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1" name="Grid H"/>
          <p:cNvSpPr/>
          <p:nvPr/>
        </p:nvSpPr>
        <p:spPr>
          <a:xfrm>
            <a:off x="0" y="4572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2" name="Grid H"/>
          <p:cNvSpPr/>
          <p:nvPr/>
        </p:nvSpPr>
        <p:spPr>
          <a:xfrm>
            <a:off x="0" y="50292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3" name="Grid H"/>
          <p:cNvSpPr/>
          <p:nvPr/>
        </p:nvSpPr>
        <p:spPr>
          <a:xfrm>
            <a:off x="0" y="54864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4" name="Grid H"/>
          <p:cNvSpPr/>
          <p:nvPr/>
        </p:nvSpPr>
        <p:spPr>
          <a:xfrm>
            <a:off x="0" y="59436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5" name="Grid H"/>
          <p:cNvSpPr/>
          <p:nvPr/>
        </p:nvSpPr>
        <p:spPr>
          <a:xfrm>
            <a:off x="0" y="64008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6" name="Grid H"/>
          <p:cNvSpPr/>
          <p:nvPr/>
        </p:nvSpPr>
        <p:spPr>
          <a:xfrm>
            <a:off x="0" y="6858000"/>
            <a:ext cx="12191695" cy="5486"/>
          </a:xfrm>
          <a:prstGeom prst="rect">
            <a:avLst/>
          </a:prstGeom>
          <a:solidFill>
            <a:srgbClr val="0B2340">
              <a:alpha val="35000"/>
            </a:srgbClr>
          </a:solidFill>
          <a:ln w="12700">
            <a:solidFill>
              <a:srgbClr val="0B2340">
                <a:alpha val="35000"/>
              </a:srgbClr>
            </a:solidFill>
          </a:ln>
        </p:spPr>
        <p:txBody>
          <a:bodyPr/>
          <a:lstStyle/>
          <a:p/>
        </p:txBody>
      </p:sp>
      <p:sp>
        <p:nvSpPr>
          <p:cNvPr id="47" name="Pill"/>
          <p:cNvSpPr txBox="1"/>
          <p:nvPr/>
        </p:nvSpPr>
        <p:spPr>
          <a:xfrm>
            <a:off x="566928" y="384048"/>
            <a:ext cx="347472" cy="201168"/>
          </a:xfrm>
          <a:prstGeom prst="roundRect">
            <a:avLst/>
          </a:prstGeom>
          <a:solidFill>
            <a:srgbClr val="0A1024"/>
          </a:solidFill>
          <a:ln w="12700">
            <a:solidFill>
              <a:srgbClr val="00E5FF"/>
            </a:solidFill>
          </a:ln>
        </p:spPr>
        <p:txBody>
          <a:bodyPr wrap="square" anchor="t" lIns="40000" tIns="40000" rIns="40000" bIns="40000"/>
          <a:lstStyle/>
          <a:p>
            <a:r>
              <a:rPr lang="en-US" sz="1000" b="1">
                <a:solidFill>
                  <a:srgbClr val="00E5FF"/>
                </a:solidFill>
                <a:latin typeface="Arial"/>
              </a:rPr>
              <a:t>10</a:t>
            </a:r>
            <a:endParaRPr lang="en-US" sz="1000"/>
          </a:p>
        </p:txBody>
      </p:sp>
      <p:sp>
        <p:nvSpPr>
          <p:cNvPr id="48" name="Slide Title"/>
          <p:cNvSpPr txBox="1"/>
          <p:nvPr/>
        </p:nvSpPr>
        <p:spPr>
          <a:xfrm>
            <a:off x="566928" y="7589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3000" b="1">
                <a:solidFill>
                  <a:srgbClr val="F3F7FF"/>
                </a:solidFill>
                <a:latin typeface="Arial"/>
              </a:rPr>
              <a:t>Tools and References</a:t>
            </a:r>
            <a:endParaRPr lang="en-US" sz="3000"/>
          </a:p>
        </p:txBody>
      </p:sp>
      <p:sp>
        <p:nvSpPr>
          <p:cNvPr id="49" name="Title Underline"/>
          <p:cNvSpPr/>
          <p:nvPr/>
        </p:nvSpPr>
        <p:spPr>
          <a:xfrm>
            <a:off x="566928" y="1216152"/>
            <a:ext cx="3474720" cy="3200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</a:ln>
        </p:spPr>
        <p:txBody>
          <a:bodyPr/>
          <a:lstStyle/>
          <a:p/>
        </p:txBody>
      </p:sp>
      <p:sp>
        <p:nvSpPr>
          <p:cNvPr id="50" name="Subtitle"/>
          <p:cNvSpPr txBox="1"/>
          <p:nvPr/>
        </p:nvSpPr>
        <p:spPr>
          <a:xfrm>
            <a:off x="566928" y="138988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500" b="0">
                <a:solidFill>
                  <a:srgbClr val="B5C2D8"/>
                </a:solidFill>
                <a:latin typeface="Arial"/>
              </a:rPr>
              <a:t>Main tools used to build and demonstrate the project.</a:t>
            </a:r>
            <a:endParaRPr lang="en-US" sz="1500"/>
          </a:p>
        </p:txBody>
      </p:sp>
      <p:sp>
        <p:nvSpPr>
          <p:cNvPr id="51" name="Text"/>
          <p:cNvSpPr txBox="1"/>
          <p:nvPr/>
        </p:nvSpPr>
        <p:spPr>
          <a:xfrm>
            <a:off x="731520" y="1920240"/>
            <a:ext cx="5303520" cy="28346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Tools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Python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Streamlit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SQLite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Ollama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qwen2.5:14b-instruct-q4_K_M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Plotly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Multi-agent orchestration</a:t>
            </a:r>
            <a:endParaRPr lang="en-US" sz="1800"/>
          </a:p>
        </p:txBody>
      </p:sp>
      <p:sp>
        <p:nvSpPr>
          <p:cNvPr id="52" name="Text"/>
          <p:cNvSpPr txBox="1"/>
          <p:nvPr/>
        </p:nvSpPr>
        <p:spPr>
          <a:xfrm>
            <a:off x="6309360" y="1920240"/>
            <a:ext cx="4937760" cy="2834640"/>
          </a:xfrm>
          <a:prstGeom prst="roundRect">
            <a:avLst/>
          </a:prstGeom>
          <a:solidFill>
            <a:srgbClr val="0B1430"/>
          </a:solidFill>
          <a:ln w="12700">
            <a:solidFill>
              <a:srgbClr val="00E5FF"/>
            </a:solidFill>
          </a:ln>
        </p:spPr>
        <p:txBody>
          <a:bodyPr wrap="square" anchor="t" lIns="91440" tIns="91440" rIns="91440" bIns="91440"/>
          <a:lstStyle/>
          <a:p>
            <a:r>
              <a:rPr lang="en-US" sz="1800" b="0">
                <a:solidFill>
                  <a:srgbClr val="F3F7FF"/>
                </a:solidFill>
                <a:latin typeface="Arial"/>
              </a:rPr>
              <a:t>References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Ollama local LLM runtime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Streamlit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SQLite documentation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OWASP LLM application security guidance</a:t>
            </a:r>
            <a:endParaRPr lang="en-US" sz="1800"/>
          </a:p>
          <a:p>
            <a:r>
              <a:rPr lang="en-US" sz="1800" b="0">
                <a:solidFill>
                  <a:srgbClr val="F3F7FF"/>
                </a:solidFill>
                <a:latin typeface="Arial"/>
              </a:rPr>
              <a:t>• Project source code and screenshots</a:t>
            </a:r>
            <a:endParaRPr lang="en-US" sz="1800"/>
          </a:p>
        </p:txBody>
      </p:sp>
      <p:sp>
        <p:nvSpPr>
          <p:cNvPr id="53" name="Text"/>
          <p:cNvSpPr txBox="1"/>
          <p:nvPr/>
        </p:nvSpPr>
        <p:spPr>
          <a:xfrm>
            <a:off x="731520" y="562356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91440" rIns="91440" bIns="91440"/>
          <a:lstStyle/>
          <a:p>
            <a:r>
              <a:rPr lang="en-US" sz="1800" b="1">
                <a:solidFill>
                  <a:srgbClr val="00E5FF"/>
                </a:solidFill>
                <a:latin typeface="Arial"/>
              </a:rPr>
              <a:t>Adaptive Multi-Agent LLM Defense Lab - Final Technical Presentation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enseLab">
  <a:themeElements>
    <a:clrScheme name="DefenseLab">
      <a:dk1>
        <a:srgbClr val="050816"/>
      </a:dk1>
      <a:lt1>
        <a:srgbClr val="FFFFFF"/>
      </a:lt1>
      <a:dk2>
        <a:srgbClr val="111827"/>
      </a:dk2>
      <a:lt2>
        <a:srgbClr val="E5E7EB"/>
      </a:lt2>
      <a:accent1>
        <a:srgbClr val="00E5FF"/>
      </a:accent1>
      <a:accent2>
        <a:srgbClr val="2F8CFF"/>
      </a:accent2>
      <a:accent3>
        <a:srgbClr val="20FF7D"/>
      </a:accent3>
      <a:accent4>
        <a:srgbClr val="FF4D4D"/>
      </a:accent4>
      <a:accent5>
        <a:srgbClr val="F97316"/>
      </a:accent5>
      <a:accent6>
        <a:srgbClr val="8B5CF6"/>
      </a:accent6>
      <a:hlink>
        <a:srgbClr val="2F8CFF"/>
      </a:hlink>
      <a:folHlink>
        <a:srgbClr val="8B5CF6"/>
      </a:folHlink>
    </a:clrScheme>
    <a:fontScheme name="DefenseLab">
      <a:majorFont>
        <a:latin typeface="Arial"/>
      </a:majorFont>
      <a:minorFont>
        <a:latin typeface="Arial"/>
      </a:minorFont>
    </a:fontScheme>
    <a:fmtScheme name="DefenseLab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Codex Generated Editable Presentation</Application>
  <PresentationFormat>Widescreen</PresentationFormat>
  <Slides>11</Slides>
  <Company>EMSI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Adaptive Multi-Agent LLM Defense Lab</dc:title>
  <dc:creator>Codex</dc:creator>
  <cp:lastModifiedBy>Codex</cp:lastModifiedBy>
  <dcterms:created xsi:type="dcterms:W3CDTF">2026-05-15T17:09:40Z</dcterms:created>
  <dcterms:modified xsi:type="dcterms:W3CDTF">2026-05-15T17:09:40Z</dcterms:modified>
</cp:coreProperties>
</file>